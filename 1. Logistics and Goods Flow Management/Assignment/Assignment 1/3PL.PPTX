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14"/>
  </p:notes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5466" autoAdjust="0"/>
  </p:normalViewPr>
  <p:slideViewPr>
    <p:cSldViewPr snapToGrid="0">
      <p:cViewPr>
        <p:scale>
          <a:sx n="38" d="100"/>
          <a:sy n="38" d="100"/>
        </p:scale>
        <p:origin x="121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C218EB-89B5-4677-AEAB-C425B634A5E4}" type="datetimeFigureOut">
              <a:rPr lang="en-US" smtClean="0"/>
              <a:t>2/12/2024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2D14A7-0D51-4CE8-8FFA-E3B305B3EE37}" type="slidenum">
              <a:rPr lang="en-US" smtClean="0"/>
              <a:t>‹#›</a:t>
            </a:fld>
            <a:endParaRPr lang="en-US"/>
          </a:p>
        </p:txBody>
      </p:sp>
    </p:spTree>
    <p:extLst>
      <p:ext uri="{BB962C8B-B14F-4D97-AF65-F5344CB8AC3E}">
        <p14:creationId xmlns:p14="http://schemas.microsoft.com/office/powerpoint/2010/main" val="1389914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**Slide 1: Introduction**</a:t>
            </a:r>
          </a:p>
          <a:p>
            <a:r>
              <a:rPr lang="en-GB" dirty="0"/>
              <a:t>- Good [morning/afternoon/evening], everyone. Today, I'm excited to share our findings on the role of third-party logisticians in the supply chain, drawing from both theoretical insights and real-world data collected through an interview with </a:t>
            </a:r>
            <a:r>
              <a:rPr lang="en-GB" dirty="0" err="1"/>
              <a:t>ColliCare</a:t>
            </a:r>
            <a:r>
              <a:rPr lang="en-GB" dirty="0"/>
              <a:t>.</a:t>
            </a:r>
          </a:p>
          <a:p>
            <a:endParaRPr lang="en-GB" dirty="0"/>
          </a:p>
        </p:txBody>
      </p:sp>
      <p:sp>
        <p:nvSpPr>
          <p:cNvPr id="4" name="Slide Number Placeholder 3"/>
          <p:cNvSpPr>
            <a:spLocks noGrp="1"/>
          </p:cNvSpPr>
          <p:nvPr>
            <p:ph type="sldNum" sz="quarter" idx="5"/>
          </p:nvPr>
        </p:nvSpPr>
        <p:spPr/>
        <p:txBody>
          <a:bodyPr/>
          <a:lstStyle/>
          <a:p>
            <a:fld id="{1D2D14A7-0D51-4CE8-8FFA-E3B305B3EE37}" type="slidenum">
              <a:rPr lang="en-US" smtClean="0"/>
              <a:t>1</a:t>
            </a:fld>
            <a:endParaRPr lang="en-US"/>
          </a:p>
        </p:txBody>
      </p:sp>
    </p:spTree>
    <p:extLst>
      <p:ext uri="{BB962C8B-B14F-4D97-AF65-F5344CB8AC3E}">
        <p14:creationId xmlns:p14="http://schemas.microsoft.com/office/powerpoint/2010/main" val="37774386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D8BA2-E6D2-6660-E4F4-CDF87DF0D0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955EE2-A8EC-C5E3-1E4C-E166D04172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2683D-69EC-2CB4-9297-A5988F80AFF6}"/>
              </a:ext>
            </a:extLst>
          </p:cNvPr>
          <p:cNvSpPr>
            <a:spLocks noGrp="1"/>
          </p:cNvSpPr>
          <p:nvPr>
            <p:ph type="body" idx="1"/>
          </p:nvPr>
        </p:nvSpPr>
        <p:spPr/>
        <p:txBody>
          <a:bodyPr/>
          <a:lstStyle/>
          <a:p>
            <a:r>
              <a:rPr lang="en-GB" dirty="0"/>
              <a:t>**Slide 2: Theoretical Foundation**</a:t>
            </a:r>
          </a:p>
          <a:p>
            <a:r>
              <a:rPr lang="en-GB" dirty="0"/>
              <a:t>- Let's start by revisiting the theoretical foundation. The role of a third-party logistician involves providing a spectrum of logistics services, from transportation to warehousing, with the primary goal of optimizing supply chains and enhancing efficiency for client companies.</a:t>
            </a:r>
          </a:p>
        </p:txBody>
      </p:sp>
      <p:sp>
        <p:nvSpPr>
          <p:cNvPr id="4" name="Slide Number Placeholder 3">
            <a:extLst>
              <a:ext uri="{FF2B5EF4-FFF2-40B4-BE49-F238E27FC236}">
                <a16:creationId xmlns:a16="http://schemas.microsoft.com/office/drawing/2014/main" id="{E1B1B19D-4D06-16B1-AD74-D6BD05515AA8}"/>
              </a:ext>
            </a:extLst>
          </p:cNvPr>
          <p:cNvSpPr>
            <a:spLocks noGrp="1"/>
          </p:cNvSpPr>
          <p:nvPr>
            <p:ph type="sldNum" sz="quarter" idx="5"/>
          </p:nvPr>
        </p:nvSpPr>
        <p:spPr/>
        <p:txBody>
          <a:bodyPr/>
          <a:lstStyle/>
          <a:p>
            <a:fld id="{1D2D14A7-0D51-4CE8-8FFA-E3B305B3EE37}" type="slidenum">
              <a:rPr lang="en-US" smtClean="0"/>
              <a:t>2</a:t>
            </a:fld>
            <a:endParaRPr lang="en-US"/>
          </a:p>
        </p:txBody>
      </p:sp>
    </p:spTree>
    <p:extLst>
      <p:ext uri="{BB962C8B-B14F-4D97-AF65-F5344CB8AC3E}">
        <p14:creationId xmlns:p14="http://schemas.microsoft.com/office/powerpoint/2010/main" val="3058699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3464B-7914-EE12-CD72-03E50C27C8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2276E8-F40C-76B7-E6DD-07ABEBB363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1C01D2-D6D4-A301-7BEC-9E18C910BF0C}"/>
              </a:ext>
            </a:extLst>
          </p:cNvPr>
          <p:cNvSpPr>
            <a:spLocks noGrp="1"/>
          </p:cNvSpPr>
          <p:nvPr>
            <p:ph type="body" idx="1"/>
          </p:nvPr>
        </p:nvSpPr>
        <p:spPr/>
        <p:txBody>
          <a:bodyPr/>
          <a:lstStyle/>
          <a:p>
            <a:r>
              <a:rPr lang="en-GB" dirty="0"/>
              <a:t>**Slide 3: Data Collection Process**</a:t>
            </a:r>
          </a:p>
          <a:p>
            <a:r>
              <a:rPr lang="en-GB" dirty="0"/>
              <a:t>- Moving on to our data collection process, we obtained contact information from our lecturer, ensuring a smooth connection with </a:t>
            </a:r>
            <a:r>
              <a:rPr lang="en-GB" dirty="0" err="1"/>
              <a:t>ColliCare</a:t>
            </a:r>
            <a:r>
              <a:rPr lang="en-GB" dirty="0"/>
              <a:t>. Structured email communication facilitated the interview, aligning questions with theoretical concepts and ensuring a focused discussion.</a:t>
            </a:r>
          </a:p>
          <a:p>
            <a:endParaRPr lang="en-GB" dirty="0"/>
          </a:p>
        </p:txBody>
      </p:sp>
      <p:sp>
        <p:nvSpPr>
          <p:cNvPr id="4" name="Slide Number Placeholder 3">
            <a:extLst>
              <a:ext uri="{FF2B5EF4-FFF2-40B4-BE49-F238E27FC236}">
                <a16:creationId xmlns:a16="http://schemas.microsoft.com/office/drawing/2014/main" id="{B7E09CEA-E0F0-1E03-1E27-1E27CF0DFC74}"/>
              </a:ext>
            </a:extLst>
          </p:cNvPr>
          <p:cNvSpPr>
            <a:spLocks noGrp="1"/>
          </p:cNvSpPr>
          <p:nvPr>
            <p:ph type="sldNum" sz="quarter" idx="5"/>
          </p:nvPr>
        </p:nvSpPr>
        <p:spPr/>
        <p:txBody>
          <a:bodyPr/>
          <a:lstStyle/>
          <a:p>
            <a:fld id="{1D2D14A7-0D51-4CE8-8FFA-E3B305B3EE37}" type="slidenum">
              <a:rPr lang="en-US" smtClean="0"/>
              <a:t>3</a:t>
            </a:fld>
            <a:endParaRPr lang="en-US"/>
          </a:p>
        </p:txBody>
      </p:sp>
    </p:spTree>
    <p:extLst>
      <p:ext uri="{BB962C8B-B14F-4D97-AF65-F5344CB8AC3E}">
        <p14:creationId xmlns:p14="http://schemas.microsoft.com/office/powerpoint/2010/main" val="8809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643A2-DE3A-45C1-281B-B647297777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E74E-309E-0A32-AA9C-11539269B9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FA0BEB-603A-D66F-9B62-6A61DDF3A934}"/>
              </a:ext>
            </a:extLst>
          </p:cNvPr>
          <p:cNvSpPr>
            <a:spLocks noGrp="1"/>
          </p:cNvSpPr>
          <p:nvPr>
            <p:ph type="body" idx="1"/>
          </p:nvPr>
        </p:nvSpPr>
        <p:spPr/>
        <p:txBody>
          <a:bodyPr/>
          <a:lstStyle/>
          <a:p>
            <a:r>
              <a:rPr lang="en-GB" dirty="0"/>
              <a:t>**Slide 4: Company Description - </a:t>
            </a:r>
            <a:r>
              <a:rPr lang="en-GB" dirty="0" err="1"/>
              <a:t>ColliCare</a:t>
            </a:r>
            <a:r>
              <a:rPr lang="en-GB" dirty="0"/>
              <a:t>**</a:t>
            </a:r>
          </a:p>
          <a:p>
            <a:r>
              <a:rPr lang="en-GB" dirty="0"/>
              <a:t>- </a:t>
            </a:r>
            <a:r>
              <a:rPr lang="en-GB" dirty="0" err="1"/>
              <a:t>ColliCare</a:t>
            </a:r>
            <a:r>
              <a:rPr lang="en-GB" dirty="0"/>
              <a:t>, a Norwegian logistics company founded in 2007, operates globally with a significant presence in Europe. With a commitment to "work smarter" and core values of </a:t>
            </a:r>
            <a:r>
              <a:rPr lang="en-GB" dirty="0" err="1"/>
              <a:t>humor</a:t>
            </a:r>
            <a:r>
              <a:rPr lang="en-GB" dirty="0"/>
              <a:t>, reliability, respect, and smartness, </a:t>
            </a:r>
            <a:r>
              <a:rPr lang="en-GB" dirty="0" err="1"/>
              <a:t>ColliCare</a:t>
            </a:r>
            <a:r>
              <a:rPr lang="en-GB" dirty="0"/>
              <a:t> offers a diverse range of logistics services, emphasizing a personalized approach and innovative transportation solutions.</a:t>
            </a:r>
          </a:p>
          <a:p>
            <a:endParaRPr lang="en-GB" dirty="0"/>
          </a:p>
          <a:p>
            <a:endParaRPr lang="en-US" dirty="0"/>
          </a:p>
        </p:txBody>
      </p:sp>
      <p:sp>
        <p:nvSpPr>
          <p:cNvPr id="4" name="Slide Number Placeholder 3">
            <a:extLst>
              <a:ext uri="{FF2B5EF4-FFF2-40B4-BE49-F238E27FC236}">
                <a16:creationId xmlns:a16="http://schemas.microsoft.com/office/drawing/2014/main" id="{DA2CDB2A-4721-98FA-D48E-FD10881A90C5}"/>
              </a:ext>
            </a:extLst>
          </p:cNvPr>
          <p:cNvSpPr>
            <a:spLocks noGrp="1"/>
          </p:cNvSpPr>
          <p:nvPr>
            <p:ph type="sldNum" sz="quarter" idx="5"/>
          </p:nvPr>
        </p:nvSpPr>
        <p:spPr/>
        <p:txBody>
          <a:bodyPr/>
          <a:lstStyle/>
          <a:p>
            <a:fld id="{1D2D14A7-0D51-4CE8-8FFA-E3B305B3EE37}" type="slidenum">
              <a:rPr lang="en-US" smtClean="0"/>
              <a:t>4</a:t>
            </a:fld>
            <a:endParaRPr lang="en-US"/>
          </a:p>
        </p:txBody>
      </p:sp>
    </p:spTree>
    <p:extLst>
      <p:ext uri="{BB962C8B-B14F-4D97-AF65-F5344CB8AC3E}">
        <p14:creationId xmlns:p14="http://schemas.microsoft.com/office/powerpoint/2010/main" val="1011564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BE135-6F80-A287-7E69-C7C083CA8F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64030-567B-8B65-0871-E7369C93E5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D65E9E-6EC6-5AEC-952E-3CFDF57B850B}"/>
              </a:ext>
            </a:extLst>
          </p:cNvPr>
          <p:cNvSpPr>
            <a:spLocks noGrp="1"/>
          </p:cNvSpPr>
          <p:nvPr>
            <p:ph type="body" idx="1"/>
          </p:nvPr>
        </p:nvSpPr>
        <p:spPr/>
        <p:txBody>
          <a:bodyPr/>
          <a:lstStyle/>
          <a:p>
            <a:r>
              <a:rPr lang="en-GB" dirty="0"/>
              <a:t>**Slide 5: Company Description - Customer Company**</a:t>
            </a:r>
          </a:p>
          <a:p>
            <a:r>
              <a:rPr lang="en-GB" dirty="0"/>
              <a:t>- While specifics about the customer company were not provided, </a:t>
            </a:r>
            <a:r>
              <a:rPr lang="en-GB" dirty="0" err="1"/>
              <a:t>ColliCare's</a:t>
            </a:r>
            <a:r>
              <a:rPr lang="en-GB" dirty="0"/>
              <a:t> clientele spans various industries, including food, interior, waste, and building materials, showcasing the company's ability to cater to diverse logistical needs.</a:t>
            </a:r>
          </a:p>
          <a:p>
            <a:endParaRPr lang="en-GB" dirty="0"/>
          </a:p>
          <a:p>
            <a:endParaRPr lang="en-US" dirty="0"/>
          </a:p>
        </p:txBody>
      </p:sp>
      <p:sp>
        <p:nvSpPr>
          <p:cNvPr id="4" name="Slide Number Placeholder 3">
            <a:extLst>
              <a:ext uri="{FF2B5EF4-FFF2-40B4-BE49-F238E27FC236}">
                <a16:creationId xmlns:a16="http://schemas.microsoft.com/office/drawing/2014/main" id="{D2F25864-AF9F-EB23-620B-24F9CCD81F1E}"/>
              </a:ext>
            </a:extLst>
          </p:cNvPr>
          <p:cNvSpPr>
            <a:spLocks noGrp="1"/>
          </p:cNvSpPr>
          <p:nvPr>
            <p:ph type="sldNum" sz="quarter" idx="5"/>
          </p:nvPr>
        </p:nvSpPr>
        <p:spPr/>
        <p:txBody>
          <a:bodyPr/>
          <a:lstStyle/>
          <a:p>
            <a:fld id="{1D2D14A7-0D51-4CE8-8FFA-E3B305B3EE37}" type="slidenum">
              <a:rPr lang="en-US" smtClean="0"/>
              <a:t>5</a:t>
            </a:fld>
            <a:endParaRPr lang="en-US"/>
          </a:p>
        </p:txBody>
      </p:sp>
    </p:spTree>
    <p:extLst>
      <p:ext uri="{BB962C8B-B14F-4D97-AF65-F5344CB8AC3E}">
        <p14:creationId xmlns:p14="http://schemas.microsoft.com/office/powerpoint/2010/main" val="42486222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C12B1-1BC4-D3A0-A327-FFE7367903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6A2485-1DFE-442D-ED6B-770C6753FD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B0B165-FFC0-A163-1875-A1D30E4ED754}"/>
              </a:ext>
            </a:extLst>
          </p:cNvPr>
          <p:cNvSpPr>
            <a:spLocks noGrp="1"/>
          </p:cNvSpPr>
          <p:nvPr>
            <p:ph type="body" idx="1"/>
          </p:nvPr>
        </p:nvSpPr>
        <p:spPr/>
        <p:txBody>
          <a:bodyPr/>
          <a:lstStyle/>
          <a:p>
            <a:r>
              <a:rPr lang="en-GB" dirty="0"/>
              <a:t>**Slide 6: The Role of 3PL Based on Interviews**</a:t>
            </a:r>
          </a:p>
          <a:p>
            <a:r>
              <a:rPr lang="en-GB" dirty="0"/>
              <a:t>- Our interview with </a:t>
            </a:r>
            <a:r>
              <a:rPr lang="en-GB" dirty="0" err="1"/>
              <a:t>ColliCare</a:t>
            </a:r>
            <a:r>
              <a:rPr lang="en-GB" dirty="0"/>
              <a:t> highlighted the company's extensive service offerings, including road, air, sea, and rail freight, distribution, and warehouse services. Challenges, such as delays in rail transportation, are transparently addressed, and technology integration emphasizes real-time visibility and adaptability.</a:t>
            </a:r>
          </a:p>
          <a:p>
            <a:endParaRPr lang="en-GB" dirty="0"/>
          </a:p>
        </p:txBody>
      </p:sp>
      <p:sp>
        <p:nvSpPr>
          <p:cNvPr id="4" name="Slide Number Placeholder 3">
            <a:extLst>
              <a:ext uri="{FF2B5EF4-FFF2-40B4-BE49-F238E27FC236}">
                <a16:creationId xmlns:a16="http://schemas.microsoft.com/office/drawing/2014/main" id="{BDA24BA1-6C4D-89AB-F211-6B6E6AE25E28}"/>
              </a:ext>
            </a:extLst>
          </p:cNvPr>
          <p:cNvSpPr>
            <a:spLocks noGrp="1"/>
          </p:cNvSpPr>
          <p:nvPr>
            <p:ph type="sldNum" sz="quarter" idx="5"/>
          </p:nvPr>
        </p:nvSpPr>
        <p:spPr/>
        <p:txBody>
          <a:bodyPr/>
          <a:lstStyle/>
          <a:p>
            <a:fld id="{1D2D14A7-0D51-4CE8-8FFA-E3B305B3EE37}" type="slidenum">
              <a:rPr lang="en-US" smtClean="0"/>
              <a:t>6</a:t>
            </a:fld>
            <a:endParaRPr lang="en-US"/>
          </a:p>
        </p:txBody>
      </p:sp>
    </p:spTree>
    <p:extLst>
      <p:ext uri="{BB962C8B-B14F-4D97-AF65-F5344CB8AC3E}">
        <p14:creationId xmlns:p14="http://schemas.microsoft.com/office/powerpoint/2010/main" val="7218973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BDBF1-62E4-B08B-7B4C-46E8ECDB92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FCC556-909E-2D1D-6581-F6DE1C5756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7E8D3B-7649-95A9-7D21-FB0F36498C7D}"/>
              </a:ext>
            </a:extLst>
          </p:cNvPr>
          <p:cNvSpPr>
            <a:spLocks noGrp="1"/>
          </p:cNvSpPr>
          <p:nvPr>
            <p:ph type="body" idx="1"/>
          </p:nvPr>
        </p:nvSpPr>
        <p:spPr/>
        <p:txBody>
          <a:bodyPr/>
          <a:lstStyle/>
          <a:p>
            <a:r>
              <a:rPr lang="en-GB" dirty="0"/>
              <a:t>In our discussion, we found an alignment between </a:t>
            </a:r>
            <a:r>
              <a:rPr lang="en-GB" dirty="0" err="1"/>
              <a:t>ColliCare's</a:t>
            </a:r>
            <a:r>
              <a:rPr lang="en-GB" dirty="0"/>
              <a:t> practices and theoretical concepts. Emphasizing collaboration, transparency, and flexibility, </a:t>
            </a:r>
            <a:r>
              <a:rPr lang="en-GB" dirty="0" err="1"/>
              <a:t>ColliCare's</a:t>
            </a:r>
            <a:r>
              <a:rPr lang="en-GB" dirty="0"/>
              <a:t> approach resonates with the theoretical understanding of third-party logistics.</a:t>
            </a:r>
          </a:p>
        </p:txBody>
      </p:sp>
      <p:sp>
        <p:nvSpPr>
          <p:cNvPr id="4" name="Slide Number Placeholder 3">
            <a:extLst>
              <a:ext uri="{FF2B5EF4-FFF2-40B4-BE49-F238E27FC236}">
                <a16:creationId xmlns:a16="http://schemas.microsoft.com/office/drawing/2014/main" id="{FE178985-5486-FCFA-ADB8-2C88D25834AA}"/>
              </a:ext>
            </a:extLst>
          </p:cNvPr>
          <p:cNvSpPr>
            <a:spLocks noGrp="1"/>
          </p:cNvSpPr>
          <p:nvPr>
            <p:ph type="sldNum" sz="quarter" idx="5"/>
          </p:nvPr>
        </p:nvSpPr>
        <p:spPr/>
        <p:txBody>
          <a:bodyPr/>
          <a:lstStyle/>
          <a:p>
            <a:fld id="{1D2D14A7-0D51-4CE8-8FFA-E3B305B3EE37}" type="slidenum">
              <a:rPr lang="en-US" smtClean="0"/>
              <a:t>7</a:t>
            </a:fld>
            <a:endParaRPr lang="en-US"/>
          </a:p>
        </p:txBody>
      </p:sp>
    </p:spTree>
    <p:extLst>
      <p:ext uri="{BB962C8B-B14F-4D97-AF65-F5344CB8AC3E}">
        <p14:creationId xmlns:p14="http://schemas.microsoft.com/office/powerpoint/2010/main" val="25717469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1E38A-03B7-A68E-A6AD-04F0B494A5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A929A-1956-F026-A8A4-8D57218ED4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7A3E78-B137-B500-BE57-CBC454D19F76}"/>
              </a:ext>
            </a:extLst>
          </p:cNvPr>
          <p:cNvSpPr>
            <a:spLocks noGrp="1"/>
          </p:cNvSpPr>
          <p:nvPr>
            <p:ph type="body" idx="1"/>
          </p:nvPr>
        </p:nvSpPr>
        <p:spPr/>
        <p:txBody>
          <a:bodyPr/>
          <a:lstStyle/>
          <a:p>
            <a:r>
              <a:rPr lang="en-GB" dirty="0"/>
              <a:t>However, it's crucial to acknowledge that our interview represents the provider's perspective. To gain a comprehensive view, in-depth interviews with both providers and customers are essential to uncover potential divergences in their perceptions of the third-party logistics role.</a:t>
            </a:r>
          </a:p>
        </p:txBody>
      </p:sp>
      <p:sp>
        <p:nvSpPr>
          <p:cNvPr id="4" name="Slide Number Placeholder 3">
            <a:extLst>
              <a:ext uri="{FF2B5EF4-FFF2-40B4-BE49-F238E27FC236}">
                <a16:creationId xmlns:a16="http://schemas.microsoft.com/office/drawing/2014/main" id="{C03A51C1-83CE-9ACC-06D7-D8E7B93787CC}"/>
              </a:ext>
            </a:extLst>
          </p:cNvPr>
          <p:cNvSpPr>
            <a:spLocks noGrp="1"/>
          </p:cNvSpPr>
          <p:nvPr>
            <p:ph type="sldNum" sz="quarter" idx="5"/>
          </p:nvPr>
        </p:nvSpPr>
        <p:spPr/>
        <p:txBody>
          <a:bodyPr/>
          <a:lstStyle/>
          <a:p>
            <a:fld id="{1D2D14A7-0D51-4CE8-8FFA-E3B305B3EE37}" type="slidenum">
              <a:rPr lang="en-US" smtClean="0"/>
              <a:t>8</a:t>
            </a:fld>
            <a:endParaRPr lang="en-US"/>
          </a:p>
        </p:txBody>
      </p:sp>
    </p:spTree>
    <p:extLst>
      <p:ext uri="{BB962C8B-B14F-4D97-AF65-F5344CB8AC3E}">
        <p14:creationId xmlns:p14="http://schemas.microsoft.com/office/powerpoint/2010/main" val="34291758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55A75-C923-FF1A-3E48-7A2ED7E3BC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7FBD14-A449-09B7-4760-5C0B35197A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E9350C-EAF1-EE02-A9FC-B2DA84817AD6}"/>
              </a:ext>
            </a:extLst>
          </p:cNvPr>
          <p:cNvSpPr>
            <a:spLocks noGrp="1"/>
          </p:cNvSpPr>
          <p:nvPr>
            <p:ph type="body" idx="1"/>
          </p:nvPr>
        </p:nvSpPr>
        <p:spPr/>
        <p:txBody>
          <a:bodyPr/>
          <a:lstStyle/>
          <a:p>
            <a:endParaRPr lang="en-GB" dirty="0"/>
          </a:p>
          <a:p>
            <a:r>
              <a:rPr lang="en-GB" dirty="0"/>
              <a:t>\</a:t>
            </a:r>
          </a:p>
          <a:p>
            <a:endParaRPr lang="en-GB" dirty="0"/>
          </a:p>
          <a:p>
            <a:r>
              <a:rPr lang="en-GB" dirty="0"/>
              <a:t>**Slide 9: Discussion - Own View of the Role**</a:t>
            </a:r>
          </a:p>
          <a:p>
            <a:r>
              <a:rPr lang="en-GB" dirty="0"/>
              <a:t>- From the data presented, the role of a third-party logistics provider is multifaceted, involving a diverse range of services, strong client relationships, and adaptability. </a:t>
            </a:r>
            <a:r>
              <a:rPr lang="en-GB" dirty="0" err="1"/>
              <a:t>ColliCare's</a:t>
            </a:r>
            <a:r>
              <a:rPr lang="en-GB" dirty="0"/>
              <a:t> emphasis on collaboration aligns with the theoretical importance of working closely with clients.</a:t>
            </a:r>
          </a:p>
          <a:p>
            <a:endParaRPr lang="en-GB" dirty="0"/>
          </a:p>
        </p:txBody>
      </p:sp>
      <p:sp>
        <p:nvSpPr>
          <p:cNvPr id="4" name="Slide Number Placeholder 3">
            <a:extLst>
              <a:ext uri="{FF2B5EF4-FFF2-40B4-BE49-F238E27FC236}">
                <a16:creationId xmlns:a16="http://schemas.microsoft.com/office/drawing/2014/main" id="{1446030A-28EA-CE00-F89D-2E9044800AD9}"/>
              </a:ext>
            </a:extLst>
          </p:cNvPr>
          <p:cNvSpPr>
            <a:spLocks noGrp="1"/>
          </p:cNvSpPr>
          <p:nvPr>
            <p:ph type="sldNum" sz="quarter" idx="5"/>
          </p:nvPr>
        </p:nvSpPr>
        <p:spPr/>
        <p:txBody>
          <a:bodyPr/>
          <a:lstStyle/>
          <a:p>
            <a:fld id="{1D2D14A7-0D51-4CE8-8FFA-E3B305B3EE37}" type="slidenum">
              <a:rPr lang="en-US" smtClean="0"/>
              <a:t>9</a:t>
            </a:fld>
            <a:endParaRPr lang="en-US"/>
          </a:p>
        </p:txBody>
      </p:sp>
    </p:spTree>
    <p:extLst>
      <p:ext uri="{BB962C8B-B14F-4D97-AF65-F5344CB8AC3E}">
        <p14:creationId xmlns:p14="http://schemas.microsoft.com/office/powerpoint/2010/main" val="40046631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A67AF-97DC-C065-E44F-76802CE110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1D0E35-F65C-FFB9-553C-E17E349CB7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4F7B37-9702-8594-B22B-C57F9B8EE6F0}"/>
              </a:ext>
            </a:extLst>
          </p:cNvPr>
          <p:cNvSpPr>
            <a:spLocks noGrp="1"/>
          </p:cNvSpPr>
          <p:nvPr>
            <p:ph type="body" idx="1"/>
          </p:nvPr>
        </p:nvSpPr>
        <p:spPr/>
        <p:txBody>
          <a:bodyPr/>
          <a:lstStyle/>
          <a:p>
            <a:r>
              <a:rPr lang="en-GB" dirty="0"/>
              <a:t>**Slide 10: The Future Role of 3PL (for VG)**</a:t>
            </a:r>
          </a:p>
          <a:p>
            <a:r>
              <a:rPr lang="en-GB" dirty="0"/>
              <a:t>- Lastly, considering current industry trends and </a:t>
            </a:r>
            <a:r>
              <a:rPr lang="en-GB" dirty="0" err="1"/>
              <a:t>ColliCare's</a:t>
            </a:r>
            <a:r>
              <a:rPr lang="en-GB" dirty="0"/>
              <a:t> initiatives, the future role of third-party logistics seems to be evolving towards greater environmental sustainability. Investments in eco-friendly transportation modes and a focus on reducing the environmental footprint indicate a potential shift towards greener logistics practices in the next 5-10 years.</a:t>
            </a:r>
          </a:p>
          <a:p>
            <a:endParaRPr lang="en-GB" dirty="0"/>
          </a:p>
        </p:txBody>
      </p:sp>
      <p:sp>
        <p:nvSpPr>
          <p:cNvPr id="4" name="Slide Number Placeholder 3">
            <a:extLst>
              <a:ext uri="{FF2B5EF4-FFF2-40B4-BE49-F238E27FC236}">
                <a16:creationId xmlns:a16="http://schemas.microsoft.com/office/drawing/2014/main" id="{E997298C-52B8-6109-4AEE-B6A512FA1391}"/>
              </a:ext>
            </a:extLst>
          </p:cNvPr>
          <p:cNvSpPr>
            <a:spLocks noGrp="1"/>
          </p:cNvSpPr>
          <p:nvPr>
            <p:ph type="sldNum" sz="quarter" idx="5"/>
          </p:nvPr>
        </p:nvSpPr>
        <p:spPr/>
        <p:txBody>
          <a:bodyPr/>
          <a:lstStyle/>
          <a:p>
            <a:fld id="{1D2D14A7-0D51-4CE8-8FFA-E3B305B3EE37}" type="slidenum">
              <a:rPr lang="en-US" smtClean="0"/>
              <a:t>10</a:t>
            </a:fld>
            <a:endParaRPr lang="en-US"/>
          </a:p>
        </p:txBody>
      </p:sp>
    </p:spTree>
    <p:extLst>
      <p:ext uri="{BB962C8B-B14F-4D97-AF65-F5344CB8AC3E}">
        <p14:creationId xmlns:p14="http://schemas.microsoft.com/office/powerpoint/2010/main" val="947866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7DF76-9543-AA1C-3150-E1EB5639BF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EA0EF2-3978-63C9-8088-E45E60E0ED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43DEF9-4AEB-9F86-F029-F3EDB25E8215}"/>
              </a:ext>
            </a:extLst>
          </p:cNvPr>
          <p:cNvSpPr>
            <a:spLocks noGrp="1"/>
          </p:cNvSpPr>
          <p:nvPr>
            <p:ph type="body" idx="1"/>
          </p:nvPr>
        </p:nvSpPr>
        <p:spPr/>
        <p:txBody>
          <a:bodyPr/>
          <a:lstStyle/>
          <a:p>
            <a:endParaRPr lang="en-GB" dirty="0"/>
          </a:p>
          <a:p>
            <a:r>
              <a:rPr lang="en-GB" dirty="0"/>
              <a:t>**Slide 11: Conclusion**</a:t>
            </a:r>
          </a:p>
          <a:p>
            <a:r>
              <a:rPr lang="en-GB" dirty="0"/>
              <a:t>- In conclusion, our findings highlight the importance of bridging theoretical concepts with real-world practices, emphasizing collaboration, transparency, and adaptability in the dynamic landscape of third-party logistics.</a:t>
            </a:r>
          </a:p>
          <a:p>
            <a:endParaRPr lang="en-GB" dirty="0"/>
          </a:p>
        </p:txBody>
      </p:sp>
      <p:sp>
        <p:nvSpPr>
          <p:cNvPr id="4" name="Slide Number Placeholder 3">
            <a:extLst>
              <a:ext uri="{FF2B5EF4-FFF2-40B4-BE49-F238E27FC236}">
                <a16:creationId xmlns:a16="http://schemas.microsoft.com/office/drawing/2014/main" id="{A572FE9E-8394-6F2C-4ACD-5FE7EE62C671}"/>
              </a:ext>
            </a:extLst>
          </p:cNvPr>
          <p:cNvSpPr>
            <a:spLocks noGrp="1"/>
          </p:cNvSpPr>
          <p:nvPr>
            <p:ph type="sldNum" sz="quarter" idx="5"/>
          </p:nvPr>
        </p:nvSpPr>
        <p:spPr/>
        <p:txBody>
          <a:bodyPr/>
          <a:lstStyle/>
          <a:p>
            <a:fld id="{1D2D14A7-0D51-4CE8-8FFA-E3B305B3EE37}" type="slidenum">
              <a:rPr lang="en-US" smtClean="0"/>
              <a:t>11</a:t>
            </a:fld>
            <a:endParaRPr lang="en-US"/>
          </a:p>
        </p:txBody>
      </p:sp>
    </p:spTree>
    <p:extLst>
      <p:ext uri="{BB962C8B-B14F-4D97-AF65-F5344CB8AC3E}">
        <p14:creationId xmlns:p14="http://schemas.microsoft.com/office/powerpoint/2010/main" val="28718067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D7939-1ACF-1772-1BA3-CBD0081663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8F06FD-BA0E-ECED-878E-159DAA51DD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1DCE46-CE1E-973F-2807-F3D762718316}"/>
              </a:ext>
            </a:extLst>
          </p:cNvPr>
          <p:cNvSpPr>
            <a:spLocks noGrp="1"/>
          </p:cNvSpPr>
          <p:nvPr>
            <p:ph type="body" idx="1"/>
          </p:nvPr>
        </p:nvSpPr>
        <p:spPr/>
        <p:txBody>
          <a:bodyPr/>
          <a:lstStyle/>
          <a:p>
            <a:r>
              <a:rPr lang="en-GB" dirty="0"/>
              <a:t>Slide 12: Thank You</a:t>
            </a:r>
          </a:p>
          <a:p>
            <a:endParaRPr lang="en-GB" dirty="0"/>
          </a:p>
          <a:p>
            <a:r>
              <a:rPr lang="en-GB" dirty="0"/>
              <a:t>Thank you for your attention. I'm open to any questions or discussions you may have regarding our research and findings.</a:t>
            </a:r>
          </a:p>
        </p:txBody>
      </p:sp>
      <p:sp>
        <p:nvSpPr>
          <p:cNvPr id="4" name="Slide Number Placeholder 3">
            <a:extLst>
              <a:ext uri="{FF2B5EF4-FFF2-40B4-BE49-F238E27FC236}">
                <a16:creationId xmlns:a16="http://schemas.microsoft.com/office/drawing/2014/main" id="{38D84258-4498-60F3-F14A-B07F3CDF22E3}"/>
              </a:ext>
            </a:extLst>
          </p:cNvPr>
          <p:cNvSpPr>
            <a:spLocks noGrp="1"/>
          </p:cNvSpPr>
          <p:nvPr>
            <p:ph type="sldNum" sz="quarter" idx="5"/>
          </p:nvPr>
        </p:nvSpPr>
        <p:spPr/>
        <p:txBody>
          <a:bodyPr/>
          <a:lstStyle/>
          <a:p>
            <a:fld id="{1D2D14A7-0D51-4CE8-8FFA-E3B305B3EE37}" type="slidenum">
              <a:rPr lang="en-US" smtClean="0"/>
              <a:t>12</a:t>
            </a:fld>
            <a:endParaRPr lang="en-US"/>
          </a:p>
        </p:txBody>
      </p:sp>
    </p:spTree>
    <p:extLst>
      <p:ext uri="{BB962C8B-B14F-4D97-AF65-F5344CB8AC3E}">
        <p14:creationId xmlns:p14="http://schemas.microsoft.com/office/powerpoint/2010/main" val="40020582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A1C012-8297-4361-ACE8-A2509FB18911}"/>
              </a:ext>
            </a:extLst>
          </p:cNvPr>
          <p:cNvSpPr/>
          <p:nvPr/>
        </p:nvSpPr>
        <p:spPr>
          <a:xfrm>
            <a:off x="0" y="4206240"/>
            <a:ext cx="12192000" cy="26517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EC2572-8518-46FF-8F60-FE2963DF4A6E}"/>
              </a:ext>
            </a:extLst>
          </p:cNvPr>
          <p:cNvSpPr>
            <a:spLocks noGrp="1"/>
          </p:cNvSpPr>
          <p:nvPr>
            <p:ph type="ctrTitle"/>
          </p:nvPr>
        </p:nvSpPr>
        <p:spPr>
          <a:xfrm>
            <a:off x="960120" y="640080"/>
            <a:ext cx="10268712" cy="3227832"/>
          </a:xfrm>
        </p:spPr>
        <p:txBody>
          <a:bodyPr anchor="b">
            <a:normAutofit/>
          </a:bodyPr>
          <a:lstStyle>
            <a:lvl1pPr algn="ctr">
              <a:defRPr sz="8800" baseline="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A7A0C76A-7715-48A4-8CF5-14BBF61962A1}"/>
              </a:ext>
            </a:extLst>
          </p:cNvPr>
          <p:cNvSpPr>
            <a:spLocks noGrp="1"/>
          </p:cNvSpPr>
          <p:nvPr>
            <p:ph type="subTitle" idx="1"/>
          </p:nvPr>
        </p:nvSpPr>
        <p:spPr>
          <a:xfrm>
            <a:off x="960120" y="4526280"/>
            <a:ext cx="10268712" cy="1508760"/>
          </a:xfrm>
        </p:spPr>
        <p:txBody>
          <a:bodyPr>
            <a:normAutofit/>
          </a:bodyPr>
          <a:lstStyle>
            <a:lvl1pPr marL="0" indent="0" algn="ctr">
              <a:buNone/>
              <a:defRPr sz="36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Date Placeholder 10">
            <a:extLst>
              <a:ext uri="{FF2B5EF4-FFF2-40B4-BE49-F238E27FC236}">
                <a16:creationId xmlns:a16="http://schemas.microsoft.com/office/drawing/2014/main" id="{52D4EF84-F7DF-49C5-9285-301284ADB99A}"/>
              </a:ext>
            </a:extLst>
          </p:cNvPr>
          <p:cNvSpPr>
            <a:spLocks noGrp="1"/>
          </p:cNvSpPr>
          <p:nvPr>
            <p:ph type="dt" sz="half" idx="10"/>
          </p:nvPr>
        </p:nvSpPr>
        <p:spPr/>
        <p:txBody>
          <a:bodyPr/>
          <a:lstStyle>
            <a:lvl1pPr>
              <a:defRPr>
                <a:solidFill>
                  <a:schemeClr val="bg1"/>
                </a:solidFill>
              </a:defRPr>
            </a:lvl1pPr>
          </a:lstStyle>
          <a:p>
            <a:pPr algn="r"/>
            <a:fld id="{A37D6D71-8B28-4ED6-B932-04B197003D23}" type="datetimeFigureOut">
              <a:rPr lang="en-US" smtClean="0"/>
              <a:pPr algn="r"/>
              <a:t>2/12/2024</a:t>
            </a:fld>
            <a:endParaRPr lang="en-US" dirty="0"/>
          </a:p>
        </p:txBody>
      </p:sp>
      <p:sp>
        <p:nvSpPr>
          <p:cNvPr id="12" name="Footer Placeholder 11">
            <a:extLst>
              <a:ext uri="{FF2B5EF4-FFF2-40B4-BE49-F238E27FC236}">
                <a16:creationId xmlns:a16="http://schemas.microsoft.com/office/drawing/2014/main" id="{81266E04-79AF-49EF-86BC-DB29D304BBEC}"/>
              </a:ext>
            </a:extLst>
          </p:cNvPr>
          <p:cNvSpPr>
            <a:spLocks noGrp="1"/>
          </p:cNvSpPr>
          <p:nvPr>
            <p:ph type="ftr" sz="quarter" idx="11"/>
          </p:nvPr>
        </p:nvSpPr>
        <p:spPr/>
        <p:txBody>
          <a:bodyPr/>
          <a:lstStyle>
            <a:lvl1pPr>
              <a:defRPr>
                <a:solidFill>
                  <a:schemeClr val="bg1"/>
                </a:solidFill>
              </a:defRPr>
            </a:lvl1pPr>
          </a:lstStyle>
          <a:p>
            <a:endParaRPr lang="en-US" dirty="0">
              <a:solidFill>
                <a:schemeClr val="bg1"/>
              </a:solidFill>
            </a:endParaRPr>
          </a:p>
        </p:txBody>
      </p:sp>
      <p:sp>
        <p:nvSpPr>
          <p:cNvPr id="13" name="Slide Number Placeholder 12">
            <a:extLst>
              <a:ext uri="{FF2B5EF4-FFF2-40B4-BE49-F238E27FC236}">
                <a16:creationId xmlns:a16="http://schemas.microsoft.com/office/drawing/2014/main" id="{90DF5B53-9A9A-46CE-A910-25ADA58753A8}"/>
              </a:ext>
            </a:extLst>
          </p:cNvPr>
          <p:cNvSpPr>
            <a:spLocks noGrp="1"/>
          </p:cNvSpPr>
          <p:nvPr>
            <p:ph type="sldNum" sz="quarter" idx="12"/>
          </p:nvPr>
        </p:nvSpPr>
        <p:spPr/>
        <p:txBody>
          <a:bodyPr/>
          <a:lstStyle>
            <a:lvl1pPr>
              <a:defRPr>
                <a:solidFill>
                  <a:schemeClr val="bg1"/>
                </a:solidFill>
              </a:defRPr>
            </a:lvl1p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4223341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80910-921F-4143-AB01-0F0AFC2908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0182FC-5A0B-4C24-A6ED-990ED5BA90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B6172F4-3DB0-4AE3-8926-081B78034C68}"/>
              </a:ext>
            </a:extLst>
          </p:cNvPr>
          <p:cNvSpPr>
            <a:spLocks noGrp="1"/>
          </p:cNvSpPr>
          <p:nvPr>
            <p:ph type="dt" sz="half" idx="10"/>
          </p:nvPr>
        </p:nvSpPr>
        <p:spPr/>
        <p:txBody>
          <a:bodyPr/>
          <a:lstStyle/>
          <a:p>
            <a:pPr algn="r"/>
            <a:fld id="{A37D6D71-8B28-4ED6-B932-04B197003D23}" type="datetimeFigureOut">
              <a:rPr lang="en-US" smtClean="0"/>
              <a:pPr algn="r"/>
              <a:t>2/12/2024</a:t>
            </a:fld>
            <a:endParaRPr lang="en-US" dirty="0"/>
          </a:p>
        </p:txBody>
      </p:sp>
      <p:sp>
        <p:nvSpPr>
          <p:cNvPr id="8" name="Footer Placeholder 7">
            <a:extLst>
              <a:ext uri="{FF2B5EF4-FFF2-40B4-BE49-F238E27FC236}">
                <a16:creationId xmlns:a16="http://schemas.microsoft.com/office/drawing/2014/main" id="{825F1358-C731-465B-BCB1-2CCBFD6ECF7E}"/>
              </a:ext>
            </a:extLst>
          </p:cNvPr>
          <p:cNvSpPr>
            <a:spLocks noGrp="1"/>
          </p:cNvSpPr>
          <p:nvPr>
            <p:ph type="ftr" sz="quarter" idx="11"/>
          </p:nvPr>
        </p:nvSpPr>
        <p:spPr/>
        <p:txBody>
          <a:bodyPr/>
          <a:lstStyle/>
          <a:p>
            <a:endParaRPr lang="en-US" dirty="0">
              <a:solidFill>
                <a:schemeClr val="tx1"/>
              </a:solidFill>
            </a:endParaRPr>
          </a:p>
        </p:txBody>
      </p:sp>
      <p:sp>
        <p:nvSpPr>
          <p:cNvPr id="9" name="Slide Number Placeholder 8">
            <a:extLst>
              <a:ext uri="{FF2B5EF4-FFF2-40B4-BE49-F238E27FC236}">
                <a16:creationId xmlns:a16="http://schemas.microsoft.com/office/drawing/2014/main" id="{C8D59536-57D3-4C8A-A207-568465A32E45}"/>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434651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1E0804-8E9E-4C6E-B18D-44FE715B239E}"/>
              </a:ext>
            </a:extLst>
          </p:cNvPr>
          <p:cNvSpPr/>
          <p:nvPr/>
        </p:nvSpPr>
        <p:spPr>
          <a:xfrm>
            <a:off x="0" y="0"/>
            <a:ext cx="12192000" cy="422497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278AA1-17A5-44BF-8791-EACDA31F5D86}"/>
              </a:ext>
            </a:extLst>
          </p:cNvPr>
          <p:cNvSpPr>
            <a:spLocks noGrp="1"/>
          </p:cNvSpPr>
          <p:nvPr>
            <p:ph type="title"/>
          </p:nvPr>
        </p:nvSpPr>
        <p:spPr>
          <a:xfrm>
            <a:off x="960120" y="768096"/>
            <a:ext cx="10268712" cy="3136392"/>
          </a:xfrm>
        </p:spPr>
        <p:txBody>
          <a:bodyPr anchor="b">
            <a:normAutofit/>
          </a:bodyPr>
          <a:lstStyle>
            <a:lvl1pPr>
              <a:defRPr sz="720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01203A5-DA79-4778-AB85-150365748494}"/>
              </a:ext>
            </a:extLst>
          </p:cNvPr>
          <p:cNvSpPr>
            <a:spLocks noGrp="1"/>
          </p:cNvSpPr>
          <p:nvPr>
            <p:ph type="body" idx="1"/>
          </p:nvPr>
        </p:nvSpPr>
        <p:spPr>
          <a:xfrm>
            <a:off x="960120" y="4544568"/>
            <a:ext cx="10268712" cy="1545336"/>
          </a:xfrm>
        </p:spPr>
        <p:txBody>
          <a:bodyPr>
            <a:normAutofit/>
          </a:bodyPr>
          <a:lstStyle>
            <a:lvl1pPr marL="0" indent="0">
              <a:buNone/>
              <a:defRPr sz="3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Date Placeholder 8">
            <a:extLst>
              <a:ext uri="{FF2B5EF4-FFF2-40B4-BE49-F238E27FC236}">
                <a16:creationId xmlns:a16="http://schemas.microsoft.com/office/drawing/2014/main" id="{CE3B1B5E-0912-44AE-BAED-70B980E53915}"/>
              </a:ext>
            </a:extLst>
          </p:cNvPr>
          <p:cNvSpPr>
            <a:spLocks noGrp="1"/>
          </p:cNvSpPr>
          <p:nvPr>
            <p:ph type="dt" sz="half" idx="10"/>
          </p:nvPr>
        </p:nvSpPr>
        <p:spPr/>
        <p:txBody>
          <a:bodyPr/>
          <a:lstStyle/>
          <a:p>
            <a:pPr algn="r"/>
            <a:fld id="{A37D6D71-8B28-4ED6-B932-04B197003D23}" type="datetimeFigureOut">
              <a:rPr lang="en-US" smtClean="0"/>
              <a:pPr algn="r"/>
              <a:t>2/12/2024</a:t>
            </a:fld>
            <a:endParaRPr lang="en-US" dirty="0"/>
          </a:p>
        </p:txBody>
      </p:sp>
      <p:sp>
        <p:nvSpPr>
          <p:cNvPr id="10" name="Footer Placeholder 9">
            <a:extLst>
              <a:ext uri="{FF2B5EF4-FFF2-40B4-BE49-F238E27FC236}">
                <a16:creationId xmlns:a16="http://schemas.microsoft.com/office/drawing/2014/main" id="{346C82F1-A7B2-4F03-A26B-59D79BF5BFD5}"/>
              </a:ext>
            </a:extLst>
          </p:cNvPr>
          <p:cNvSpPr>
            <a:spLocks noGrp="1"/>
          </p:cNvSpPr>
          <p:nvPr>
            <p:ph type="ftr" sz="quarter" idx="11"/>
          </p:nvPr>
        </p:nvSpPr>
        <p:spPr/>
        <p:txBody>
          <a:bodyPr/>
          <a:lstStyle/>
          <a:p>
            <a:endParaRPr lang="en-US" dirty="0">
              <a:solidFill>
                <a:schemeClr val="tx1"/>
              </a:solidFill>
            </a:endParaRPr>
          </a:p>
        </p:txBody>
      </p:sp>
      <p:sp>
        <p:nvSpPr>
          <p:cNvPr id="11" name="Slide Number Placeholder 10">
            <a:extLst>
              <a:ext uri="{FF2B5EF4-FFF2-40B4-BE49-F238E27FC236}">
                <a16:creationId xmlns:a16="http://schemas.microsoft.com/office/drawing/2014/main" id="{B1DC1ABC-47A9-477B-A29D-F6690EE6B532}"/>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39971996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5F398-F05F-4793-9FA5-5B817EB95A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17F1CD-2CD4-4BBB-AB36-73A20B1A8D69}"/>
              </a:ext>
            </a:extLst>
          </p:cNvPr>
          <p:cNvSpPr>
            <a:spLocks noGrp="1"/>
          </p:cNvSpPr>
          <p:nvPr>
            <p:ph sz="half" idx="1"/>
          </p:nvPr>
        </p:nvSpPr>
        <p:spPr>
          <a:xfrm>
            <a:off x="960120" y="2587752"/>
            <a:ext cx="4815840" cy="3593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67BBE02-B884-4CCC-9CBD-13B792BBA2BE}"/>
              </a:ext>
            </a:extLst>
          </p:cNvPr>
          <p:cNvSpPr>
            <a:spLocks noGrp="1"/>
          </p:cNvSpPr>
          <p:nvPr>
            <p:ph sz="half" idx="2"/>
          </p:nvPr>
        </p:nvSpPr>
        <p:spPr>
          <a:xfrm>
            <a:off x="6412992" y="2583371"/>
            <a:ext cx="4815840" cy="3593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Date Placeholder 11">
            <a:extLst>
              <a:ext uri="{FF2B5EF4-FFF2-40B4-BE49-F238E27FC236}">
                <a16:creationId xmlns:a16="http://schemas.microsoft.com/office/drawing/2014/main" id="{B7FBE509-AA68-4D63-A589-AD5DE7FFFECA}"/>
              </a:ext>
            </a:extLst>
          </p:cNvPr>
          <p:cNvSpPr>
            <a:spLocks noGrp="1"/>
          </p:cNvSpPr>
          <p:nvPr>
            <p:ph type="dt" sz="half" idx="10"/>
          </p:nvPr>
        </p:nvSpPr>
        <p:spPr/>
        <p:txBody>
          <a:bodyPr/>
          <a:lstStyle/>
          <a:p>
            <a:pPr algn="r"/>
            <a:fld id="{A37D6D71-8B28-4ED6-B932-04B197003D23}" type="datetimeFigureOut">
              <a:rPr lang="en-US" smtClean="0"/>
              <a:pPr algn="r"/>
              <a:t>2/12/2024</a:t>
            </a:fld>
            <a:endParaRPr lang="en-US" dirty="0"/>
          </a:p>
        </p:txBody>
      </p:sp>
      <p:sp>
        <p:nvSpPr>
          <p:cNvPr id="13" name="Footer Placeholder 12">
            <a:extLst>
              <a:ext uri="{FF2B5EF4-FFF2-40B4-BE49-F238E27FC236}">
                <a16:creationId xmlns:a16="http://schemas.microsoft.com/office/drawing/2014/main" id="{9C1A4D52-57E4-4F45-BC2C-9FD73E9CEC59}"/>
              </a:ext>
            </a:extLst>
          </p:cNvPr>
          <p:cNvSpPr>
            <a:spLocks noGrp="1"/>
          </p:cNvSpPr>
          <p:nvPr>
            <p:ph type="ftr" sz="quarter" idx="11"/>
          </p:nvPr>
        </p:nvSpPr>
        <p:spPr/>
        <p:txBody>
          <a:bodyPr/>
          <a:lstStyle/>
          <a:p>
            <a:endParaRPr lang="en-US" dirty="0">
              <a:solidFill>
                <a:schemeClr val="tx1"/>
              </a:solidFill>
            </a:endParaRPr>
          </a:p>
        </p:txBody>
      </p:sp>
      <p:sp>
        <p:nvSpPr>
          <p:cNvPr id="14" name="Slide Number Placeholder 13">
            <a:extLst>
              <a:ext uri="{FF2B5EF4-FFF2-40B4-BE49-F238E27FC236}">
                <a16:creationId xmlns:a16="http://schemas.microsoft.com/office/drawing/2014/main" id="{E76AD5E1-358D-4236-85AE-74713259EF08}"/>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20387627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87D32C-166A-4FBE-B24D-C25769095429}"/>
              </a:ext>
            </a:extLst>
          </p:cNvPr>
          <p:cNvSpPr>
            <a:spLocks noGrp="1"/>
          </p:cNvSpPr>
          <p:nvPr>
            <p:ph type="body" idx="1"/>
          </p:nvPr>
        </p:nvSpPr>
        <p:spPr>
          <a:xfrm>
            <a:off x="960121" y="2587752"/>
            <a:ext cx="4818888" cy="892048"/>
          </a:xfrm>
        </p:spPr>
        <p:txBody>
          <a:bodyPr anchor="ctr"/>
          <a:lstStyle>
            <a:lvl1pPr marL="0" indent="0">
              <a:buNone/>
              <a:defRPr sz="26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9EC567-F249-462A-B71A-9C40D50E26AA}"/>
              </a:ext>
            </a:extLst>
          </p:cNvPr>
          <p:cNvSpPr>
            <a:spLocks noGrp="1"/>
          </p:cNvSpPr>
          <p:nvPr>
            <p:ph sz="half" idx="2"/>
          </p:nvPr>
        </p:nvSpPr>
        <p:spPr>
          <a:xfrm>
            <a:off x="960120" y="3594538"/>
            <a:ext cx="4818888" cy="2586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3BB7D2C6-69D1-4DE4-BF68-5FB0623DB9E3}"/>
              </a:ext>
            </a:extLst>
          </p:cNvPr>
          <p:cNvSpPr>
            <a:spLocks noGrp="1"/>
          </p:cNvSpPr>
          <p:nvPr>
            <p:ph type="body" sz="quarter" idx="3"/>
          </p:nvPr>
        </p:nvSpPr>
        <p:spPr>
          <a:xfrm>
            <a:off x="6409944" y="2587752"/>
            <a:ext cx="4818888" cy="892048"/>
          </a:xfrm>
        </p:spPr>
        <p:txBody>
          <a:bodyPr anchor="ctr"/>
          <a:lstStyle>
            <a:lvl1pPr marL="0" indent="0">
              <a:buNone/>
              <a:defRPr sz="26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367CC7-ED09-4F8D-A39A-C5969D33B9F8}"/>
              </a:ext>
            </a:extLst>
          </p:cNvPr>
          <p:cNvSpPr>
            <a:spLocks noGrp="1"/>
          </p:cNvSpPr>
          <p:nvPr>
            <p:ph sz="quarter" idx="4"/>
          </p:nvPr>
        </p:nvSpPr>
        <p:spPr>
          <a:xfrm>
            <a:off x="6409944" y="3594538"/>
            <a:ext cx="4818888" cy="2586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5F92A44F-DE98-4FB5-B474-5DCCDD267A79}"/>
              </a:ext>
            </a:extLst>
          </p:cNvPr>
          <p:cNvSpPr>
            <a:spLocks noGrp="1"/>
          </p:cNvSpPr>
          <p:nvPr>
            <p:ph type="dt" sz="half" idx="10"/>
          </p:nvPr>
        </p:nvSpPr>
        <p:spPr/>
        <p:txBody>
          <a:bodyPr/>
          <a:lstStyle/>
          <a:p>
            <a:pPr algn="r"/>
            <a:fld id="{A37D6D71-8B28-4ED6-B932-04B197003D23}" type="datetimeFigureOut">
              <a:rPr lang="en-US" smtClean="0"/>
              <a:pPr algn="r"/>
              <a:t>2/12/2024</a:t>
            </a:fld>
            <a:endParaRPr lang="en-US" dirty="0"/>
          </a:p>
        </p:txBody>
      </p:sp>
      <p:sp>
        <p:nvSpPr>
          <p:cNvPr id="11" name="Footer Placeholder 10">
            <a:extLst>
              <a:ext uri="{FF2B5EF4-FFF2-40B4-BE49-F238E27FC236}">
                <a16:creationId xmlns:a16="http://schemas.microsoft.com/office/drawing/2014/main" id="{3ACC79DA-A9E4-4E93-93F1-81907A901BBB}"/>
              </a:ext>
            </a:extLst>
          </p:cNvPr>
          <p:cNvSpPr>
            <a:spLocks noGrp="1"/>
          </p:cNvSpPr>
          <p:nvPr>
            <p:ph type="ftr" sz="quarter" idx="11"/>
          </p:nvPr>
        </p:nvSpPr>
        <p:spPr/>
        <p:txBody>
          <a:bodyPr/>
          <a:lstStyle/>
          <a:p>
            <a:endParaRPr lang="en-US" dirty="0">
              <a:solidFill>
                <a:schemeClr val="tx1"/>
              </a:solidFill>
            </a:endParaRPr>
          </a:p>
        </p:txBody>
      </p:sp>
      <p:sp>
        <p:nvSpPr>
          <p:cNvPr id="12" name="Slide Number Placeholder 11">
            <a:extLst>
              <a:ext uri="{FF2B5EF4-FFF2-40B4-BE49-F238E27FC236}">
                <a16:creationId xmlns:a16="http://schemas.microsoft.com/office/drawing/2014/main" id="{404DFE57-AA80-4ED8-AD77-35CC56F3FBC6}"/>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
        <p:nvSpPr>
          <p:cNvPr id="13" name="Title 12">
            <a:extLst>
              <a:ext uri="{FF2B5EF4-FFF2-40B4-BE49-F238E27FC236}">
                <a16:creationId xmlns:a16="http://schemas.microsoft.com/office/drawing/2014/main" id="{FB62259C-ADDF-4293-AD3B-AB2E04A7483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4832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C7BA0-DC57-452F-85B7-C979AA690920}"/>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F1C53797-8D72-4774-AC93-EB9FDD650CCD}"/>
              </a:ext>
            </a:extLst>
          </p:cNvPr>
          <p:cNvSpPr>
            <a:spLocks noGrp="1"/>
          </p:cNvSpPr>
          <p:nvPr>
            <p:ph type="dt" sz="half" idx="10"/>
          </p:nvPr>
        </p:nvSpPr>
        <p:spPr/>
        <p:txBody>
          <a:bodyPr/>
          <a:lstStyle/>
          <a:p>
            <a:pPr algn="r"/>
            <a:fld id="{A37D6D71-8B28-4ED6-B932-04B197003D23}" type="datetimeFigureOut">
              <a:rPr lang="en-US" smtClean="0"/>
              <a:pPr algn="r"/>
              <a:t>2/12/2024</a:t>
            </a:fld>
            <a:endParaRPr lang="en-US" dirty="0"/>
          </a:p>
        </p:txBody>
      </p:sp>
      <p:sp>
        <p:nvSpPr>
          <p:cNvPr id="7" name="Footer Placeholder 6">
            <a:extLst>
              <a:ext uri="{FF2B5EF4-FFF2-40B4-BE49-F238E27FC236}">
                <a16:creationId xmlns:a16="http://schemas.microsoft.com/office/drawing/2014/main" id="{9E945AB7-1A32-4516-ABF9-B40958AE2E73}"/>
              </a:ext>
            </a:extLst>
          </p:cNvPr>
          <p:cNvSpPr>
            <a:spLocks noGrp="1"/>
          </p:cNvSpPr>
          <p:nvPr>
            <p:ph type="ftr" sz="quarter" idx="11"/>
          </p:nvPr>
        </p:nvSpPr>
        <p:spPr/>
        <p:txBody>
          <a:bodyPr/>
          <a:lstStyle/>
          <a:p>
            <a:endParaRPr lang="en-US" dirty="0">
              <a:solidFill>
                <a:schemeClr val="tx1"/>
              </a:solidFill>
            </a:endParaRPr>
          </a:p>
        </p:txBody>
      </p:sp>
      <p:sp>
        <p:nvSpPr>
          <p:cNvPr id="8" name="Slide Number Placeholder 7">
            <a:extLst>
              <a:ext uri="{FF2B5EF4-FFF2-40B4-BE49-F238E27FC236}">
                <a16:creationId xmlns:a16="http://schemas.microsoft.com/office/drawing/2014/main" id="{B22923C3-1D67-4089-A6B1-9A10315E807F}"/>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2517041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C0A8DC1-14F6-453B-A724-D6493F063F83}"/>
              </a:ext>
            </a:extLst>
          </p:cNvPr>
          <p:cNvSpPr>
            <a:spLocks noGrp="1"/>
          </p:cNvSpPr>
          <p:nvPr>
            <p:ph type="dt" sz="half" idx="10"/>
          </p:nvPr>
        </p:nvSpPr>
        <p:spPr/>
        <p:txBody>
          <a:bodyPr/>
          <a:lstStyle/>
          <a:p>
            <a:pPr algn="r"/>
            <a:fld id="{A37D6D71-8B28-4ED6-B932-04B197003D23}" type="datetimeFigureOut">
              <a:rPr lang="en-US" smtClean="0"/>
              <a:pPr algn="r"/>
              <a:t>2/12/2024</a:t>
            </a:fld>
            <a:endParaRPr lang="en-US" dirty="0"/>
          </a:p>
        </p:txBody>
      </p:sp>
      <p:sp>
        <p:nvSpPr>
          <p:cNvPr id="6" name="Footer Placeholder 5">
            <a:extLst>
              <a:ext uri="{FF2B5EF4-FFF2-40B4-BE49-F238E27FC236}">
                <a16:creationId xmlns:a16="http://schemas.microsoft.com/office/drawing/2014/main" id="{66E63FF0-1A91-4698-B12A-112D05373593}"/>
              </a:ext>
            </a:extLst>
          </p:cNvPr>
          <p:cNvSpPr>
            <a:spLocks noGrp="1"/>
          </p:cNvSpPr>
          <p:nvPr>
            <p:ph type="ftr" sz="quarter" idx="11"/>
          </p:nvPr>
        </p:nvSpPr>
        <p:spPr/>
        <p:txBody>
          <a:bodyPr/>
          <a:lstStyle/>
          <a:p>
            <a:endParaRPr lang="en-US" dirty="0">
              <a:solidFill>
                <a:schemeClr val="tx1"/>
              </a:solidFill>
            </a:endParaRPr>
          </a:p>
        </p:txBody>
      </p:sp>
      <p:sp>
        <p:nvSpPr>
          <p:cNvPr id="7" name="Slide Number Placeholder 6">
            <a:extLst>
              <a:ext uri="{FF2B5EF4-FFF2-40B4-BE49-F238E27FC236}">
                <a16:creationId xmlns:a16="http://schemas.microsoft.com/office/drawing/2014/main" id="{1E066D53-44B3-4F04-93FD-9756A60139F9}"/>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1231465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83A0FE-F7E3-433E-9A29-D778690D223A}"/>
              </a:ext>
            </a:extLst>
          </p:cNvPr>
          <p:cNvSpPr>
            <a:spLocks noGrp="1"/>
          </p:cNvSpPr>
          <p:nvPr>
            <p:ph idx="1"/>
          </p:nvPr>
        </p:nvSpPr>
        <p:spPr>
          <a:xfrm>
            <a:off x="5183188" y="2591850"/>
            <a:ext cx="6045644" cy="3593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1794B15D-55F5-4208-AF40-41CAFEB56F4C}"/>
              </a:ext>
            </a:extLst>
          </p:cNvPr>
          <p:cNvSpPr>
            <a:spLocks noGrp="1"/>
          </p:cNvSpPr>
          <p:nvPr>
            <p:ph type="body" sz="half" idx="2"/>
          </p:nvPr>
        </p:nvSpPr>
        <p:spPr>
          <a:xfrm>
            <a:off x="960120" y="2591850"/>
            <a:ext cx="3811905" cy="3277137"/>
          </a:xfrm>
        </p:spPr>
        <p:txBody>
          <a:bodyPr anchor="ct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E8A46CE7-2F0F-4C85-B633-B9FCB8347AE7}"/>
              </a:ext>
            </a:extLst>
          </p:cNvPr>
          <p:cNvSpPr>
            <a:spLocks noGrp="1"/>
          </p:cNvSpPr>
          <p:nvPr>
            <p:ph type="dt" sz="half" idx="10"/>
          </p:nvPr>
        </p:nvSpPr>
        <p:spPr/>
        <p:txBody>
          <a:bodyPr/>
          <a:lstStyle/>
          <a:p>
            <a:pPr algn="r"/>
            <a:fld id="{A37D6D71-8B28-4ED6-B932-04B197003D23}" type="datetimeFigureOut">
              <a:rPr lang="en-US" smtClean="0"/>
              <a:pPr algn="r"/>
              <a:t>2/12/2024</a:t>
            </a:fld>
            <a:endParaRPr lang="en-US" dirty="0"/>
          </a:p>
        </p:txBody>
      </p:sp>
      <p:sp>
        <p:nvSpPr>
          <p:cNvPr id="9" name="Footer Placeholder 8">
            <a:extLst>
              <a:ext uri="{FF2B5EF4-FFF2-40B4-BE49-F238E27FC236}">
                <a16:creationId xmlns:a16="http://schemas.microsoft.com/office/drawing/2014/main" id="{D0900919-3A73-4918-9D97-8DBE7ABB7A19}"/>
              </a:ext>
            </a:extLst>
          </p:cNvPr>
          <p:cNvSpPr>
            <a:spLocks noGrp="1"/>
          </p:cNvSpPr>
          <p:nvPr>
            <p:ph type="ftr" sz="quarter" idx="11"/>
          </p:nvPr>
        </p:nvSpPr>
        <p:spPr/>
        <p:txBody>
          <a:bodyPr/>
          <a:lstStyle/>
          <a:p>
            <a:endParaRPr lang="en-US" dirty="0">
              <a:solidFill>
                <a:schemeClr val="tx1"/>
              </a:solidFill>
            </a:endParaRPr>
          </a:p>
        </p:txBody>
      </p:sp>
      <p:sp>
        <p:nvSpPr>
          <p:cNvPr id="10" name="Slide Number Placeholder 9">
            <a:extLst>
              <a:ext uri="{FF2B5EF4-FFF2-40B4-BE49-F238E27FC236}">
                <a16:creationId xmlns:a16="http://schemas.microsoft.com/office/drawing/2014/main" id="{08BC1001-E44E-4A9A-9E60-2E319A844F65}"/>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
        <p:nvSpPr>
          <p:cNvPr id="11" name="Title 10">
            <a:extLst>
              <a:ext uri="{FF2B5EF4-FFF2-40B4-BE49-F238E27FC236}">
                <a16:creationId xmlns:a16="http://schemas.microsoft.com/office/drawing/2014/main" id="{A125AC31-022C-40AA-B65C-C9AC48395A6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82620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797A575-703F-410E-9A84-F9B578FEAE80}"/>
              </a:ext>
            </a:extLst>
          </p:cNvPr>
          <p:cNvSpPr>
            <a:spLocks noGrp="1"/>
          </p:cNvSpPr>
          <p:nvPr>
            <p:ph type="pic" idx="1"/>
          </p:nvPr>
        </p:nvSpPr>
        <p:spPr>
          <a:xfrm>
            <a:off x="0" y="2267712"/>
            <a:ext cx="6571469" cy="4590288"/>
          </a:xfrm>
          <a:solidFill>
            <a:schemeClr val="bg1">
              <a:lumMod val="85000"/>
            </a:schemeClr>
          </a:solidFill>
          <a:ln>
            <a:noFill/>
          </a:ln>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1518B509-934D-400A-A922-45B61AC6EDD8}"/>
              </a:ext>
            </a:extLst>
          </p:cNvPr>
          <p:cNvSpPr>
            <a:spLocks noGrp="1"/>
          </p:cNvSpPr>
          <p:nvPr>
            <p:ph type="body" sz="half" idx="2"/>
          </p:nvPr>
        </p:nvSpPr>
        <p:spPr>
          <a:xfrm>
            <a:off x="7235971" y="2587752"/>
            <a:ext cx="3992856" cy="3593592"/>
          </a:xfrm>
        </p:spPr>
        <p:txBody>
          <a:bodyPr anchor="ct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99813C51-6954-4F3A-A043-D1BCC8B50F83}"/>
              </a:ext>
            </a:extLst>
          </p:cNvPr>
          <p:cNvSpPr>
            <a:spLocks noGrp="1"/>
          </p:cNvSpPr>
          <p:nvPr>
            <p:ph type="dt" sz="half" idx="10"/>
          </p:nvPr>
        </p:nvSpPr>
        <p:spPr/>
        <p:txBody>
          <a:bodyPr/>
          <a:lstStyle/>
          <a:p>
            <a:pPr algn="r"/>
            <a:fld id="{A37D6D71-8B28-4ED6-B932-04B197003D23}" type="datetimeFigureOut">
              <a:rPr lang="en-US" smtClean="0"/>
              <a:pPr algn="r"/>
              <a:t>2/12/2024</a:t>
            </a:fld>
            <a:endParaRPr lang="en-US" dirty="0"/>
          </a:p>
        </p:txBody>
      </p:sp>
      <p:sp>
        <p:nvSpPr>
          <p:cNvPr id="9" name="Footer Placeholder 8">
            <a:extLst>
              <a:ext uri="{FF2B5EF4-FFF2-40B4-BE49-F238E27FC236}">
                <a16:creationId xmlns:a16="http://schemas.microsoft.com/office/drawing/2014/main" id="{C0AC32FB-49A3-40E4-9D24-177597043627}"/>
              </a:ext>
            </a:extLst>
          </p:cNvPr>
          <p:cNvSpPr>
            <a:spLocks noGrp="1"/>
          </p:cNvSpPr>
          <p:nvPr>
            <p:ph type="ftr" sz="quarter" idx="11"/>
          </p:nvPr>
        </p:nvSpPr>
        <p:spPr/>
        <p:txBody>
          <a:bodyPr/>
          <a:lstStyle>
            <a:lvl1pPr>
              <a:defRPr>
                <a:solidFill>
                  <a:srgbClr val="FFFFFF"/>
                </a:solidFill>
                <a:effectLst>
                  <a:outerShdw blurRad="50800" dist="38100" dir="2700000" algn="tl" rotWithShape="0">
                    <a:prstClr val="black">
                      <a:alpha val="43000"/>
                    </a:prstClr>
                  </a:outerShdw>
                </a:effectLst>
              </a:defRPr>
            </a:lvl1pPr>
          </a:lstStyle>
          <a:p>
            <a:endParaRPr lang="en-US" dirty="0">
              <a:effectLst>
                <a:outerShdw blurRad="50800" dist="38100" dir="2700000" algn="tl" rotWithShape="0">
                  <a:prstClr val="black">
                    <a:alpha val="43000"/>
                  </a:prstClr>
                </a:outerShdw>
              </a:effectLst>
            </a:endParaRPr>
          </a:p>
        </p:txBody>
      </p:sp>
      <p:sp>
        <p:nvSpPr>
          <p:cNvPr id="10" name="Slide Number Placeholder 9">
            <a:extLst>
              <a:ext uri="{FF2B5EF4-FFF2-40B4-BE49-F238E27FC236}">
                <a16:creationId xmlns:a16="http://schemas.microsoft.com/office/drawing/2014/main" id="{EC93F5E6-DAE6-447B-8038-5F4C9A799F57}"/>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
        <p:nvSpPr>
          <p:cNvPr id="2" name="Title 1">
            <a:extLst>
              <a:ext uri="{FF2B5EF4-FFF2-40B4-BE49-F238E27FC236}">
                <a16:creationId xmlns:a16="http://schemas.microsoft.com/office/drawing/2014/main" id="{9BFF97FB-514D-4FE8-A9A4-E9A111A56ED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36408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327B9-64C6-4AFE-8E67-F60CD17A80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92656D-F600-4D76-8A0F-BDBE78759B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A13412-4939-4879-B91F-BB5B029B6CEB}"/>
              </a:ext>
            </a:extLst>
          </p:cNvPr>
          <p:cNvSpPr>
            <a:spLocks noGrp="1"/>
          </p:cNvSpPr>
          <p:nvPr>
            <p:ph type="dt" sz="half" idx="10"/>
          </p:nvPr>
        </p:nvSpPr>
        <p:spPr/>
        <p:txBody>
          <a:bodyPr/>
          <a:lstStyle/>
          <a:p>
            <a:pPr algn="r"/>
            <a:fld id="{A37D6D71-8B28-4ED6-B932-04B197003D23}" type="datetimeFigureOut">
              <a:rPr lang="en-US" smtClean="0"/>
              <a:pPr algn="r"/>
              <a:t>2/12/2024</a:t>
            </a:fld>
            <a:endParaRPr lang="en-US" dirty="0"/>
          </a:p>
        </p:txBody>
      </p:sp>
      <p:sp>
        <p:nvSpPr>
          <p:cNvPr id="8" name="Footer Placeholder 7">
            <a:extLst>
              <a:ext uri="{FF2B5EF4-FFF2-40B4-BE49-F238E27FC236}">
                <a16:creationId xmlns:a16="http://schemas.microsoft.com/office/drawing/2014/main" id="{95237DB9-DE7D-4687-82D7-612600F06C3E}"/>
              </a:ext>
            </a:extLst>
          </p:cNvPr>
          <p:cNvSpPr>
            <a:spLocks noGrp="1"/>
          </p:cNvSpPr>
          <p:nvPr>
            <p:ph type="ftr" sz="quarter" idx="11"/>
          </p:nvPr>
        </p:nvSpPr>
        <p:spPr/>
        <p:txBody>
          <a:bodyPr/>
          <a:lstStyle/>
          <a:p>
            <a:endParaRPr lang="en-US" dirty="0">
              <a:solidFill>
                <a:schemeClr val="tx1"/>
              </a:solidFill>
            </a:endParaRPr>
          </a:p>
        </p:txBody>
      </p:sp>
      <p:sp>
        <p:nvSpPr>
          <p:cNvPr id="9" name="Slide Number Placeholder 8">
            <a:extLst>
              <a:ext uri="{FF2B5EF4-FFF2-40B4-BE49-F238E27FC236}">
                <a16:creationId xmlns:a16="http://schemas.microsoft.com/office/drawing/2014/main" id="{6C819356-0444-4C23-82D3-E2FDE28D3DCB}"/>
              </a:ext>
            </a:extLst>
          </p:cNvPr>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3808252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EB51B7C-D548-4AB7-90A4-C196105E6D56}"/>
              </a:ext>
            </a:extLst>
          </p:cNvPr>
          <p:cNvSpPr/>
          <p:nvPr/>
        </p:nvSpPr>
        <p:spPr>
          <a:xfrm>
            <a:off x="7108274" y="0"/>
            <a:ext cx="508372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32DC521B-8B54-4843-9FF4-B2C30FA0043F}"/>
              </a:ext>
            </a:extLst>
          </p:cNvPr>
          <p:cNvSpPr>
            <a:spLocks noGrp="1"/>
          </p:cNvSpPr>
          <p:nvPr>
            <p:ph type="title" orient="vert"/>
          </p:nvPr>
        </p:nvSpPr>
        <p:spPr>
          <a:xfrm>
            <a:off x="7751740" y="643467"/>
            <a:ext cx="3477092" cy="5533495"/>
          </a:xfrm>
        </p:spPr>
        <p:txBody>
          <a:bodyPr vert="eaVert" tIns="91440" bIns="91440"/>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410E3F10-9E27-41E6-A965-4243E37BE3D5}"/>
              </a:ext>
            </a:extLst>
          </p:cNvPr>
          <p:cNvSpPr>
            <a:spLocks noGrp="1"/>
          </p:cNvSpPr>
          <p:nvPr>
            <p:ph type="body" orient="vert" idx="1"/>
          </p:nvPr>
        </p:nvSpPr>
        <p:spPr>
          <a:xfrm>
            <a:off x="960120" y="643467"/>
            <a:ext cx="5504687" cy="5533496"/>
          </a:xfrm>
        </p:spPr>
        <p:txBody>
          <a:bodyPr vert="eaVert" tIns="91440" b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6341D62D-51A0-4AD7-8027-BF548FB6AAF3}"/>
              </a:ext>
            </a:extLst>
          </p:cNvPr>
          <p:cNvSpPr>
            <a:spLocks noGrp="1"/>
          </p:cNvSpPr>
          <p:nvPr>
            <p:ph type="dt" sz="half" idx="10"/>
          </p:nvPr>
        </p:nvSpPr>
        <p:spPr>
          <a:xfrm>
            <a:off x="7617898" y="6356350"/>
            <a:ext cx="2522798" cy="365125"/>
          </a:xfrm>
        </p:spPr>
        <p:txBody>
          <a:bodyPr/>
          <a:lstStyle>
            <a:lvl1pPr>
              <a:defRPr>
                <a:solidFill>
                  <a:schemeClr val="bg1"/>
                </a:solidFill>
              </a:defRPr>
            </a:lvl1pPr>
          </a:lstStyle>
          <a:p>
            <a:pPr algn="r"/>
            <a:fld id="{A37D6D71-8B28-4ED6-B932-04B197003D23}" type="datetimeFigureOut">
              <a:rPr lang="en-US" smtClean="0"/>
              <a:pPr algn="r"/>
              <a:t>2/12/2024</a:t>
            </a:fld>
            <a:endParaRPr lang="en-US" dirty="0"/>
          </a:p>
        </p:txBody>
      </p:sp>
      <p:sp>
        <p:nvSpPr>
          <p:cNvPr id="8" name="Footer Placeholder 7">
            <a:extLst>
              <a:ext uri="{FF2B5EF4-FFF2-40B4-BE49-F238E27FC236}">
                <a16:creationId xmlns:a16="http://schemas.microsoft.com/office/drawing/2014/main" id="{A5857492-A701-44A1-B1D5-7B2C8CD06582}"/>
              </a:ext>
            </a:extLst>
          </p:cNvPr>
          <p:cNvSpPr>
            <a:spLocks noGrp="1"/>
          </p:cNvSpPr>
          <p:nvPr>
            <p:ph type="ftr" sz="quarter" idx="11"/>
          </p:nvPr>
        </p:nvSpPr>
        <p:spPr/>
        <p:txBody>
          <a:bodyPr/>
          <a:lstStyle/>
          <a:p>
            <a:endParaRPr lang="en-US" dirty="0">
              <a:solidFill>
                <a:schemeClr val="tx1"/>
              </a:solidFill>
            </a:endParaRPr>
          </a:p>
        </p:txBody>
      </p:sp>
      <p:sp>
        <p:nvSpPr>
          <p:cNvPr id="9" name="Slide Number Placeholder 8">
            <a:extLst>
              <a:ext uri="{FF2B5EF4-FFF2-40B4-BE49-F238E27FC236}">
                <a16:creationId xmlns:a16="http://schemas.microsoft.com/office/drawing/2014/main" id="{EED2E8AE-F1AA-4D19-A434-102501D3B460}"/>
              </a:ext>
            </a:extLst>
          </p:cNvPr>
          <p:cNvSpPr>
            <a:spLocks noGrp="1"/>
          </p:cNvSpPr>
          <p:nvPr>
            <p:ph type="sldNum" sz="quarter" idx="12"/>
          </p:nvPr>
        </p:nvSpPr>
        <p:spPr/>
        <p:txBody>
          <a:bodyPr/>
          <a:lstStyle>
            <a:lvl1pPr>
              <a:defRPr>
                <a:solidFill>
                  <a:schemeClr val="bg1"/>
                </a:solidFill>
              </a:defRPr>
            </a:lvl1p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3353218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D153959-30FA-4987-A094-7243641F474B}"/>
              </a:ext>
            </a:extLst>
          </p:cNvPr>
          <p:cNvSpPr/>
          <p:nvPr/>
        </p:nvSpPr>
        <p:spPr>
          <a:xfrm>
            <a:off x="0" y="0"/>
            <a:ext cx="12192000" cy="22649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50216229-A6DB-436A-B327-667E80F0A563}"/>
              </a:ext>
            </a:extLst>
          </p:cNvPr>
          <p:cNvSpPr>
            <a:spLocks noGrp="1"/>
          </p:cNvSpPr>
          <p:nvPr>
            <p:ph type="title"/>
          </p:nvPr>
        </p:nvSpPr>
        <p:spPr>
          <a:xfrm>
            <a:off x="960120" y="317814"/>
            <a:ext cx="10268712" cy="170078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B2B351D-270D-480D-8AF5-6A213ED2B3FB}"/>
              </a:ext>
            </a:extLst>
          </p:cNvPr>
          <p:cNvSpPr>
            <a:spLocks noGrp="1"/>
          </p:cNvSpPr>
          <p:nvPr>
            <p:ph type="body" idx="1"/>
          </p:nvPr>
        </p:nvSpPr>
        <p:spPr>
          <a:xfrm>
            <a:off x="960120" y="2587752"/>
            <a:ext cx="10268712" cy="35935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1EB0E73-3310-4A8F-BB4A-7A6A99121A61}"/>
              </a:ext>
            </a:extLst>
          </p:cNvPr>
          <p:cNvSpPr>
            <a:spLocks noGrp="1"/>
          </p:cNvSpPr>
          <p:nvPr>
            <p:ph type="dt" sz="half" idx="2"/>
          </p:nvPr>
        </p:nvSpPr>
        <p:spPr>
          <a:xfrm>
            <a:off x="6903720" y="6356350"/>
            <a:ext cx="3236976" cy="365125"/>
          </a:xfrm>
          <a:prstGeom prst="rect">
            <a:avLst/>
          </a:prstGeom>
        </p:spPr>
        <p:txBody>
          <a:bodyPr vert="horz" lIns="91440" tIns="45720" rIns="91440" bIns="45720" rtlCol="0" anchor="ctr"/>
          <a:lstStyle>
            <a:lvl1pPr algn="just">
              <a:defRPr sz="1200" spc="50" baseline="0">
                <a:solidFill>
                  <a:schemeClr val="tx1"/>
                </a:solidFill>
              </a:defRPr>
            </a:lvl1pPr>
          </a:lstStyle>
          <a:p>
            <a:pPr algn="r"/>
            <a:fld id="{A37D6D71-8B28-4ED6-B932-04B197003D23}" type="datetimeFigureOut">
              <a:rPr lang="en-US" smtClean="0"/>
              <a:pPr algn="r"/>
              <a:t>2/12/2024</a:t>
            </a:fld>
            <a:endParaRPr lang="en-US" spc="50" dirty="0"/>
          </a:p>
        </p:txBody>
      </p:sp>
      <p:sp>
        <p:nvSpPr>
          <p:cNvPr id="5" name="Footer Placeholder 4">
            <a:extLst>
              <a:ext uri="{FF2B5EF4-FFF2-40B4-BE49-F238E27FC236}">
                <a16:creationId xmlns:a16="http://schemas.microsoft.com/office/drawing/2014/main" id="{1381C4C0-515B-4404-A780-C31E7DFE54A4}"/>
              </a:ext>
            </a:extLst>
          </p:cNvPr>
          <p:cNvSpPr>
            <a:spLocks noGrp="1"/>
          </p:cNvSpPr>
          <p:nvPr>
            <p:ph type="ftr" sz="quarter" idx="3"/>
          </p:nvPr>
        </p:nvSpPr>
        <p:spPr>
          <a:xfrm>
            <a:off x="960120" y="6356350"/>
            <a:ext cx="5504688" cy="365125"/>
          </a:xfrm>
          <a:prstGeom prst="rect">
            <a:avLst/>
          </a:prstGeom>
        </p:spPr>
        <p:txBody>
          <a:bodyPr vert="horz" lIns="91440" tIns="45720" rIns="91440" bIns="45720" rtlCol="0" anchor="ctr"/>
          <a:lstStyle>
            <a:lvl1pPr algn="l">
              <a:defRPr sz="1100" cap="all" spc="50" baseline="0">
                <a:solidFill>
                  <a:schemeClr val="tx1"/>
                </a:solidFill>
              </a:defRPr>
            </a:lvl1pPr>
          </a:lstStyle>
          <a:p>
            <a:endParaRPr lang="en-US" spc="50" dirty="0"/>
          </a:p>
        </p:txBody>
      </p:sp>
      <p:sp>
        <p:nvSpPr>
          <p:cNvPr id="6" name="Slide Number Placeholder 5">
            <a:extLst>
              <a:ext uri="{FF2B5EF4-FFF2-40B4-BE49-F238E27FC236}">
                <a16:creationId xmlns:a16="http://schemas.microsoft.com/office/drawing/2014/main" id="{944C30C7-F013-428C-A6F7-A8CCCD14CEF4}"/>
              </a:ext>
            </a:extLst>
          </p:cNvPr>
          <p:cNvSpPr>
            <a:spLocks noGrp="1"/>
          </p:cNvSpPr>
          <p:nvPr>
            <p:ph type="sldNum" sz="quarter" idx="4"/>
          </p:nvPr>
        </p:nvSpPr>
        <p:spPr>
          <a:xfrm>
            <a:off x="10296144" y="6356350"/>
            <a:ext cx="932688" cy="365125"/>
          </a:xfrm>
          <a:prstGeom prst="rect">
            <a:avLst/>
          </a:prstGeom>
        </p:spPr>
        <p:txBody>
          <a:bodyPr vert="horz" lIns="91440" tIns="45720" rIns="91440" bIns="45720" rtlCol="0" anchor="ctr"/>
          <a:lstStyle>
            <a:lvl1pPr algn="r">
              <a:defRPr sz="1200">
                <a:solidFill>
                  <a:schemeClr val="tx1"/>
                </a:solidFill>
              </a:defRPr>
            </a:lvl1p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2123176325"/>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txStyles>
    <p:titleStyle>
      <a:lvl1pPr algn="l" defTabSz="914400" rtl="0" eaLnBrk="1" latinLnBrk="0" hangingPunct="1">
        <a:lnSpc>
          <a:spcPct val="90000"/>
        </a:lnSpc>
        <a:spcBef>
          <a:spcPct val="0"/>
        </a:spcBef>
        <a:buNone/>
        <a:defRPr sz="6600" kern="1200" cap="all" spc="120" baseline="0">
          <a:solidFill>
            <a:schemeClr val="bg1"/>
          </a:solidFill>
          <a:latin typeface="+mj-lt"/>
          <a:ea typeface="+mj-ea"/>
          <a:cs typeface="+mj-cs"/>
        </a:defRPr>
      </a:lvl1pPr>
    </p:titleStyle>
    <p:bodyStyle>
      <a:lvl1pPr marL="0" indent="0" algn="l" defTabSz="914400" rtl="0" eaLnBrk="1" latinLnBrk="0" hangingPunct="1">
        <a:lnSpc>
          <a:spcPct val="101000"/>
        </a:lnSpc>
        <a:spcBef>
          <a:spcPts val="700"/>
        </a:spcBef>
        <a:spcAft>
          <a:spcPts val="700"/>
        </a:spcAft>
        <a:buFont typeface="Arial" panose="020B0604020202020204" pitchFamily="34" charset="0"/>
        <a:buNone/>
        <a:defRPr sz="2600" kern="1200" spc="50" baseline="0">
          <a:solidFill>
            <a:schemeClr val="tx1"/>
          </a:solidFill>
          <a:latin typeface="+mn-lt"/>
          <a:ea typeface="+mn-ea"/>
          <a:cs typeface="+mn-cs"/>
        </a:defRPr>
      </a:lvl1pPr>
      <a:lvl2pPr marL="274320" indent="-274320" algn="l" defTabSz="914400" rtl="0" eaLnBrk="1" latinLnBrk="0" hangingPunct="1">
        <a:lnSpc>
          <a:spcPct val="101000"/>
        </a:lnSpc>
        <a:spcBef>
          <a:spcPts val="400"/>
        </a:spcBef>
        <a:spcAft>
          <a:spcPts val="400"/>
        </a:spcAft>
        <a:buClrTx/>
        <a:buFont typeface="Wingdings" panose="05000000000000000000" pitchFamily="2" charset="2"/>
        <a:buChar char="§"/>
        <a:defRPr sz="2300" kern="1200" spc="50" baseline="0">
          <a:solidFill>
            <a:schemeClr val="tx1"/>
          </a:solidFill>
          <a:latin typeface="+mn-lt"/>
          <a:ea typeface="+mn-ea"/>
          <a:cs typeface="+mn-cs"/>
        </a:defRPr>
      </a:lvl2pPr>
      <a:lvl3pPr marL="27432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3pPr>
      <a:lvl4pPr marL="594360" indent="-274320" algn="l" defTabSz="914400" rtl="0" eaLnBrk="1" latinLnBrk="0" hangingPunct="1">
        <a:lnSpc>
          <a:spcPct val="101000"/>
        </a:lnSpc>
        <a:spcBef>
          <a:spcPts val="400"/>
        </a:spcBef>
        <a:spcAft>
          <a:spcPts val="400"/>
        </a:spcAft>
        <a:buClrTx/>
        <a:buFont typeface="Wingdings" panose="05000000000000000000" pitchFamily="2" charset="2"/>
        <a:buChar char="§"/>
        <a:defRPr sz="1800" kern="1200" spc="50" baseline="0">
          <a:solidFill>
            <a:schemeClr val="tx1"/>
          </a:solidFill>
          <a:latin typeface="+mn-lt"/>
          <a:ea typeface="+mn-ea"/>
          <a:cs typeface="+mn-cs"/>
        </a:defRPr>
      </a:lvl4pPr>
      <a:lvl5pPr marL="59436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AA13AD3-0A4F-475A-BEBB-DEEFF5C09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n abstract genetic concept">
            <a:extLst>
              <a:ext uri="{FF2B5EF4-FFF2-40B4-BE49-F238E27FC236}">
                <a16:creationId xmlns:a16="http://schemas.microsoft.com/office/drawing/2014/main" id="{591E5DB4-8B7B-2DE0-3DCB-EB21CCF00288}"/>
              </a:ext>
            </a:extLst>
          </p:cNvPr>
          <p:cNvPicPr>
            <a:picLocks noChangeAspect="1"/>
          </p:cNvPicPr>
          <p:nvPr/>
        </p:nvPicPr>
        <p:blipFill rotWithShape="1">
          <a:blip r:embed="rId3">
            <a:alphaModFix amt="60000"/>
          </a:blip>
          <a:srcRect t="25613" b="18137"/>
          <a:stretch/>
        </p:blipFill>
        <p:spPr>
          <a:xfrm>
            <a:off x="20" y="10"/>
            <a:ext cx="12191980" cy="6857990"/>
          </a:xfrm>
          <a:prstGeom prst="rect">
            <a:avLst/>
          </a:prstGeom>
        </p:spPr>
      </p:pic>
      <p:sp>
        <p:nvSpPr>
          <p:cNvPr id="2" name="Title 1">
            <a:extLst>
              <a:ext uri="{FF2B5EF4-FFF2-40B4-BE49-F238E27FC236}">
                <a16:creationId xmlns:a16="http://schemas.microsoft.com/office/drawing/2014/main" id="{CF1C5430-B657-415E-C927-4248941BFE08}"/>
              </a:ext>
            </a:extLst>
          </p:cNvPr>
          <p:cNvSpPr>
            <a:spLocks noGrp="1"/>
          </p:cNvSpPr>
          <p:nvPr>
            <p:ph type="ctrTitle"/>
          </p:nvPr>
        </p:nvSpPr>
        <p:spPr>
          <a:xfrm>
            <a:off x="960120" y="640080"/>
            <a:ext cx="10268712" cy="3227832"/>
          </a:xfrm>
        </p:spPr>
        <p:txBody>
          <a:bodyPr anchor="b">
            <a:normAutofit/>
          </a:bodyPr>
          <a:lstStyle/>
          <a:p>
            <a:r>
              <a:rPr lang="en-US" dirty="0" err="1"/>
              <a:t>ColliCare</a:t>
            </a:r>
            <a:endParaRPr lang="en-US" dirty="0"/>
          </a:p>
        </p:txBody>
      </p:sp>
      <p:sp>
        <p:nvSpPr>
          <p:cNvPr id="3" name="Subtitle 2">
            <a:extLst>
              <a:ext uri="{FF2B5EF4-FFF2-40B4-BE49-F238E27FC236}">
                <a16:creationId xmlns:a16="http://schemas.microsoft.com/office/drawing/2014/main" id="{A62A2E2C-3216-46F4-07CD-C26ADD9DB5E6}"/>
              </a:ext>
            </a:extLst>
          </p:cNvPr>
          <p:cNvSpPr>
            <a:spLocks noGrp="1"/>
          </p:cNvSpPr>
          <p:nvPr>
            <p:ph type="subTitle" idx="1"/>
          </p:nvPr>
        </p:nvSpPr>
        <p:spPr>
          <a:xfrm>
            <a:off x="960120" y="4526280"/>
            <a:ext cx="10268712" cy="1508760"/>
          </a:xfrm>
        </p:spPr>
        <p:txBody>
          <a:bodyPr anchor="t">
            <a:normAutofit/>
          </a:bodyPr>
          <a:lstStyle/>
          <a:p>
            <a:endParaRPr lang="en-US">
              <a:solidFill>
                <a:schemeClr val="tx1"/>
              </a:solidFill>
            </a:endParaRPr>
          </a:p>
        </p:txBody>
      </p:sp>
    </p:spTree>
    <p:extLst>
      <p:ext uri="{BB962C8B-B14F-4D97-AF65-F5344CB8AC3E}">
        <p14:creationId xmlns:p14="http://schemas.microsoft.com/office/powerpoint/2010/main" val="22782617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advTm="17633"/>
    </mc:Choice>
    <mc:Fallback>
      <p:transition spd="slow" advTm="1763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23C9F-DF87-1CB3-0CA1-A7DE49084EDA}"/>
            </a:ext>
          </a:extLst>
        </p:cNvPr>
        <p:cNvGrpSpPr/>
        <p:nvPr/>
      </p:nvGrpSpPr>
      <p:grpSpPr>
        <a:xfrm>
          <a:off x="0" y="0"/>
          <a:ext cx="0" cy="0"/>
          <a:chOff x="0" y="0"/>
          <a:chExt cx="0" cy="0"/>
        </a:xfrm>
      </p:grpSpPr>
      <p:pic>
        <p:nvPicPr>
          <p:cNvPr id="4" name="Picture 3" descr="An abstract genetic concept">
            <a:extLst>
              <a:ext uri="{FF2B5EF4-FFF2-40B4-BE49-F238E27FC236}">
                <a16:creationId xmlns:a16="http://schemas.microsoft.com/office/drawing/2014/main" id="{ED161251-41C0-80BA-FF54-084AE0D7E541}"/>
              </a:ext>
            </a:extLst>
          </p:cNvPr>
          <p:cNvPicPr>
            <a:picLocks noChangeAspect="1"/>
          </p:cNvPicPr>
          <p:nvPr/>
        </p:nvPicPr>
        <p:blipFill rotWithShape="1">
          <a:blip r:embed="rId3">
            <a:alphaModFix amt="60000"/>
          </a:blip>
          <a:srcRect t="25613" b="18137"/>
          <a:stretch/>
        </p:blipFill>
        <p:spPr>
          <a:xfrm>
            <a:off x="20" y="10"/>
            <a:ext cx="12191980" cy="6857990"/>
          </a:xfrm>
          <a:prstGeom prst="rect">
            <a:avLst/>
          </a:prstGeom>
        </p:spPr>
      </p:pic>
      <p:sp>
        <p:nvSpPr>
          <p:cNvPr id="2" name="Title 1">
            <a:extLst>
              <a:ext uri="{FF2B5EF4-FFF2-40B4-BE49-F238E27FC236}">
                <a16:creationId xmlns:a16="http://schemas.microsoft.com/office/drawing/2014/main" id="{584985F7-A207-7A50-FAEC-2963306A6B2A}"/>
              </a:ext>
            </a:extLst>
          </p:cNvPr>
          <p:cNvSpPr>
            <a:spLocks noGrp="1"/>
          </p:cNvSpPr>
          <p:nvPr>
            <p:ph type="ctrTitle"/>
          </p:nvPr>
        </p:nvSpPr>
        <p:spPr>
          <a:xfrm>
            <a:off x="960120" y="640080"/>
            <a:ext cx="10268712" cy="3227832"/>
          </a:xfrm>
        </p:spPr>
        <p:txBody>
          <a:bodyPr anchor="b">
            <a:normAutofit/>
          </a:bodyPr>
          <a:lstStyle/>
          <a:p>
            <a:r>
              <a:rPr lang="en-US" dirty="0">
                <a:solidFill>
                  <a:schemeClr val="bg1"/>
                </a:solidFill>
              </a:rPr>
              <a:t>Theoretical Foundation</a:t>
            </a:r>
          </a:p>
        </p:txBody>
      </p:sp>
      <p:sp>
        <p:nvSpPr>
          <p:cNvPr id="3" name="Subtitle 2">
            <a:extLst>
              <a:ext uri="{FF2B5EF4-FFF2-40B4-BE49-F238E27FC236}">
                <a16:creationId xmlns:a16="http://schemas.microsoft.com/office/drawing/2014/main" id="{95250AB9-9800-F84B-D03D-F7ABC1153019}"/>
              </a:ext>
            </a:extLst>
          </p:cNvPr>
          <p:cNvSpPr>
            <a:spLocks noGrp="1"/>
          </p:cNvSpPr>
          <p:nvPr>
            <p:ph type="subTitle" idx="1"/>
          </p:nvPr>
        </p:nvSpPr>
        <p:spPr>
          <a:xfrm>
            <a:off x="960120" y="4526280"/>
            <a:ext cx="10268712" cy="1508760"/>
          </a:xfrm>
        </p:spPr>
        <p:txBody>
          <a:bodyPr anchor="t">
            <a:normAutofit/>
          </a:bodyPr>
          <a:lstStyle/>
          <a:p>
            <a:endParaRPr lang="en-US">
              <a:solidFill>
                <a:schemeClr val="tx1"/>
              </a:solidFill>
            </a:endParaRPr>
          </a:p>
        </p:txBody>
      </p:sp>
    </p:spTree>
    <p:extLst>
      <p:ext uri="{BB962C8B-B14F-4D97-AF65-F5344CB8AC3E}">
        <p14:creationId xmlns:p14="http://schemas.microsoft.com/office/powerpoint/2010/main" val="557624159"/>
      </p:ext>
    </p:extLst>
  </p:cSld>
  <p:clrMapOvr>
    <a:masterClrMapping/>
  </p:clrMapOvr>
  <mc:AlternateContent xmlns:mc="http://schemas.openxmlformats.org/markup-compatibility/2006">
    <mc:Choice xmlns:p14="http://schemas.microsoft.com/office/powerpoint/2010/main" Requires="p14">
      <p:transition spd="slow" p14:dur="2000" advTm="25267"/>
    </mc:Choice>
    <mc:Fallback>
      <p:transition spd="slow" advTm="2526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8698E-4748-CEAD-50BD-70797B8AE86E}"/>
            </a:ext>
          </a:extLst>
        </p:cNvPr>
        <p:cNvGrpSpPr/>
        <p:nvPr/>
      </p:nvGrpSpPr>
      <p:grpSpPr>
        <a:xfrm>
          <a:off x="0" y="0"/>
          <a:ext cx="0" cy="0"/>
          <a:chOff x="0" y="0"/>
          <a:chExt cx="0" cy="0"/>
        </a:xfrm>
      </p:grpSpPr>
      <p:pic>
        <p:nvPicPr>
          <p:cNvPr id="4" name="Picture 3" descr="An abstract genetic concept">
            <a:extLst>
              <a:ext uri="{FF2B5EF4-FFF2-40B4-BE49-F238E27FC236}">
                <a16:creationId xmlns:a16="http://schemas.microsoft.com/office/drawing/2014/main" id="{2613ADE8-AE9F-5F99-C832-446EE78E6727}"/>
              </a:ext>
            </a:extLst>
          </p:cNvPr>
          <p:cNvPicPr>
            <a:picLocks noChangeAspect="1"/>
          </p:cNvPicPr>
          <p:nvPr/>
        </p:nvPicPr>
        <p:blipFill rotWithShape="1">
          <a:blip r:embed="rId3">
            <a:alphaModFix amt="60000"/>
          </a:blip>
          <a:srcRect t="25613" b="18137"/>
          <a:stretch/>
        </p:blipFill>
        <p:spPr>
          <a:xfrm>
            <a:off x="20" y="10"/>
            <a:ext cx="12191980" cy="6857990"/>
          </a:xfrm>
          <a:prstGeom prst="rect">
            <a:avLst/>
          </a:prstGeom>
        </p:spPr>
      </p:pic>
      <p:sp>
        <p:nvSpPr>
          <p:cNvPr id="2" name="Title 1">
            <a:extLst>
              <a:ext uri="{FF2B5EF4-FFF2-40B4-BE49-F238E27FC236}">
                <a16:creationId xmlns:a16="http://schemas.microsoft.com/office/drawing/2014/main" id="{03720035-647A-C367-BC02-000FED8C9A7D}"/>
              </a:ext>
            </a:extLst>
          </p:cNvPr>
          <p:cNvSpPr>
            <a:spLocks noGrp="1"/>
          </p:cNvSpPr>
          <p:nvPr>
            <p:ph type="ctrTitle"/>
          </p:nvPr>
        </p:nvSpPr>
        <p:spPr>
          <a:xfrm>
            <a:off x="960120" y="640080"/>
            <a:ext cx="10268712" cy="3227832"/>
          </a:xfrm>
        </p:spPr>
        <p:txBody>
          <a:bodyPr anchor="b">
            <a:normAutofit/>
          </a:bodyPr>
          <a:lstStyle/>
          <a:p>
            <a:r>
              <a:rPr lang="en-GB" dirty="0">
                <a:solidFill>
                  <a:schemeClr val="bg1"/>
                </a:solidFill>
              </a:rPr>
              <a:t>Data Collection Process</a:t>
            </a:r>
            <a:endParaRPr lang="en-US" dirty="0">
              <a:solidFill>
                <a:schemeClr val="bg1"/>
              </a:solidFill>
            </a:endParaRPr>
          </a:p>
        </p:txBody>
      </p:sp>
      <p:sp>
        <p:nvSpPr>
          <p:cNvPr id="3" name="Subtitle 2">
            <a:extLst>
              <a:ext uri="{FF2B5EF4-FFF2-40B4-BE49-F238E27FC236}">
                <a16:creationId xmlns:a16="http://schemas.microsoft.com/office/drawing/2014/main" id="{DB95A613-CC2C-82D5-3FF9-0279B5ACFB0A}"/>
              </a:ext>
            </a:extLst>
          </p:cNvPr>
          <p:cNvSpPr>
            <a:spLocks noGrp="1"/>
          </p:cNvSpPr>
          <p:nvPr>
            <p:ph type="subTitle" idx="1"/>
          </p:nvPr>
        </p:nvSpPr>
        <p:spPr>
          <a:xfrm>
            <a:off x="960120" y="4526280"/>
            <a:ext cx="10268712" cy="1508760"/>
          </a:xfrm>
        </p:spPr>
        <p:txBody>
          <a:bodyPr anchor="t">
            <a:normAutofit/>
          </a:bodyPr>
          <a:lstStyle/>
          <a:p>
            <a:endParaRPr lang="en-US">
              <a:solidFill>
                <a:schemeClr val="tx1"/>
              </a:solidFill>
            </a:endParaRPr>
          </a:p>
        </p:txBody>
      </p:sp>
    </p:spTree>
    <p:extLst>
      <p:ext uri="{BB962C8B-B14F-4D97-AF65-F5344CB8AC3E}">
        <p14:creationId xmlns:p14="http://schemas.microsoft.com/office/powerpoint/2010/main" val="2727068469"/>
      </p:ext>
    </p:extLst>
  </p:cSld>
  <p:clrMapOvr>
    <a:masterClrMapping/>
  </p:clrMapOvr>
  <mc:AlternateContent xmlns:mc="http://schemas.openxmlformats.org/markup-compatibility/2006">
    <mc:Choice xmlns:p14="http://schemas.microsoft.com/office/powerpoint/2010/main" Requires="p14">
      <p:transition spd="slow" p14:dur="2000" advTm="24187"/>
    </mc:Choice>
    <mc:Fallback>
      <p:transition spd="slow" advTm="24187"/>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53C30-F5F6-F5F2-D056-0B82FF5E67E7}"/>
            </a:ext>
          </a:extLst>
        </p:cNvPr>
        <p:cNvGrpSpPr/>
        <p:nvPr/>
      </p:nvGrpSpPr>
      <p:grpSpPr>
        <a:xfrm>
          <a:off x="0" y="0"/>
          <a:ext cx="0" cy="0"/>
          <a:chOff x="0" y="0"/>
          <a:chExt cx="0" cy="0"/>
        </a:xfrm>
      </p:grpSpPr>
      <p:pic>
        <p:nvPicPr>
          <p:cNvPr id="4" name="Picture 3" descr="An abstract genetic concept">
            <a:extLst>
              <a:ext uri="{FF2B5EF4-FFF2-40B4-BE49-F238E27FC236}">
                <a16:creationId xmlns:a16="http://schemas.microsoft.com/office/drawing/2014/main" id="{4AA0FFA6-6038-D456-4457-4D475C33DA91}"/>
              </a:ext>
            </a:extLst>
          </p:cNvPr>
          <p:cNvPicPr>
            <a:picLocks noChangeAspect="1"/>
          </p:cNvPicPr>
          <p:nvPr/>
        </p:nvPicPr>
        <p:blipFill rotWithShape="1">
          <a:blip r:embed="rId3">
            <a:alphaModFix amt="60000"/>
          </a:blip>
          <a:srcRect t="25613" b="18137"/>
          <a:stretch/>
        </p:blipFill>
        <p:spPr>
          <a:xfrm>
            <a:off x="20" y="10"/>
            <a:ext cx="12191980" cy="6857990"/>
          </a:xfrm>
          <a:prstGeom prst="rect">
            <a:avLst/>
          </a:prstGeom>
        </p:spPr>
      </p:pic>
      <p:sp>
        <p:nvSpPr>
          <p:cNvPr id="2" name="Title 1">
            <a:extLst>
              <a:ext uri="{FF2B5EF4-FFF2-40B4-BE49-F238E27FC236}">
                <a16:creationId xmlns:a16="http://schemas.microsoft.com/office/drawing/2014/main" id="{852345A9-6EC4-2205-55D9-7A6F696A63ED}"/>
              </a:ext>
            </a:extLst>
          </p:cNvPr>
          <p:cNvSpPr>
            <a:spLocks noGrp="1"/>
          </p:cNvSpPr>
          <p:nvPr>
            <p:ph type="ctrTitle"/>
          </p:nvPr>
        </p:nvSpPr>
        <p:spPr>
          <a:xfrm>
            <a:off x="960120" y="640080"/>
            <a:ext cx="10268712" cy="3227832"/>
          </a:xfrm>
        </p:spPr>
        <p:txBody>
          <a:bodyPr anchor="b">
            <a:normAutofit/>
          </a:bodyPr>
          <a:lstStyle/>
          <a:p>
            <a:r>
              <a:rPr lang="en-GB" dirty="0">
                <a:solidFill>
                  <a:schemeClr val="bg1"/>
                </a:solidFill>
              </a:rPr>
              <a:t>Company Description</a:t>
            </a:r>
            <a:endParaRPr lang="en-US" dirty="0">
              <a:solidFill>
                <a:schemeClr val="bg1"/>
              </a:solidFill>
            </a:endParaRPr>
          </a:p>
        </p:txBody>
      </p:sp>
      <p:sp>
        <p:nvSpPr>
          <p:cNvPr id="3" name="Subtitle 2">
            <a:extLst>
              <a:ext uri="{FF2B5EF4-FFF2-40B4-BE49-F238E27FC236}">
                <a16:creationId xmlns:a16="http://schemas.microsoft.com/office/drawing/2014/main" id="{A6E8AD9F-9311-CA78-5D67-48E7762C111F}"/>
              </a:ext>
            </a:extLst>
          </p:cNvPr>
          <p:cNvSpPr>
            <a:spLocks noGrp="1"/>
          </p:cNvSpPr>
          <p:nvPr>
            <p:ph type="subTitle" idx="1"/>
          </p:nvPr>
        </p:nvSpPr>
        <p:spPr>
          <a:xfrm>
            <a:off x="960120" y="4526280"/>
            <a:ext cx="10268712" cy="1508760"/>
          </a:xfrm>
        </p:spPr>
        <p:txBody>
          <a:bodyPr anchor="t">
            <a:normAutofit/>
          </a:bodyPr>
          <a:lstStyle/>
          <a:p>
            <a:endParaRPr lang="en-US">
              <a:solidFill>
                <a:schemeClr val="tx1"/>
              </a:solidFill>
            </a:endParaRPr>
          </a:p>
        </p:txBody>
      </p:sp>
    </p:spTree>
    <p:extLst>
      <p:ext uri="{BB962C8B-B14F-4D97-AF65-F5344CB8AC3E}">
        <p14:creationId xmlns:p14="http://schemas.microsoft.com/office/powerpoint/2010/main" val="618646352"/>
      </p:ext>
    </p:extLst>
  </p:cSld>
  <p:clrMapOvr>
    <a:masterClrMapping/>
  </p:clrMapOvr>
  <mc:AlternateContent xmlns:mc="http://schemas.openxmlformats.org/markup-compatibility/2006">
    <mc:Choice xmlns:p14="http://schemas.microsoft.com/office/powerpoint/2010/main" Requires="p14">
      <p:transition spd="slow" p14:dur="2000" advTm="36084"/>
    </mc:Choice>
    <mc:Fallback>
      <p:transition spd="slow" advTm="36084"/>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97958-97B2-8E77-29B1-3179B7ED0E64}"/>
            </a:ext>
          </a:extLst>
        </p:cNvPr>
        <p:cNvGrpSpPr/>
        <p:nvPr/>
      </p:nvGrpSpPr>
      <p:grpSpPr>
        <a:xfrm>
          <a:off x="0" y="0"/>
          <a:ext cx="0" cy="0"/>
          <a:chOff x="0" y="0"/>
          <a:chExt cx="0" cy="0"/>
        </a:xfrm>
      </p:grpSpPr>
      <p:pic>
        <p:nvPicPr>
          <p:cNvPr id="4" name="Picture 3" descr="An abstract genetic concept">
            <a:extLst>
              <a:ext uri="{FF2B5EF4-FFF2-40B4-BE49-F238E27FC236}">
                <a16:creationId xmlns:a16="http://schemas.microsoft.com/office/drawing/2014/main" id="{AEBCB715-042B-910E-EE54-5A923C617270}"/>
              </a:ext>
            </a:extLst>
          </p:cNvPr>
          <p:cNvPicPr>
            <a:picLocks noChangeAspect="1"/>
          </p:cNvPicPr>
          <p:nvPr/>
        </p:nvPicPr>
        <p:blipFill rotWithShape="1">
          <a:blip r:embed="rId3">
            <a:alphaModFix amt="60000"/>
          </a:blip>
          <a:srcRect t="25613" b="18137"/>
          <a:stretch/>
        </p:blipFill>
        <p:spPr>
          <a:xfrm>
            <a:off x="20" y="10"/>
            <a:ext cx="12191980" cy="6857990"/>
          </a:xfrm>
          <a:prstGeom prst="rect">
            <a:avLst/>
          </a:prstGeom>
        </p:spPr>
      </p:pic>
      <p:sp>
        <p:nvSpPr>
          <p:cNvPr id="2" name="Title 1">
            <a:extLst>
              <a:ext uri="{FF2B5EF4-FFF2-40B4-BE49-F238E27FC236}">
                <a16:creationId xmlns:a16="http://schemas.microsoft.com/office/drawing/2014/main" id="{33BA8408-D3CF-8E20-70CD-6A78B26A8C70}"/>
              </a:ext>
            </a:extLst>
          </p:cNvPr>
          <p:cNvSpPr>
            <a:spLocks noGrp="1"/>
          </p:cNvSpPr>
          <p:nvPr>
            <p:ph type="ctrTitle"/>
          </p:nvPr>
        </p:nvSpPr>
        <p:spPr>
          <a:xfrm>
            <a:off x="960120" y="640080"/>
            <a:ext cx="10268712" cy="3227832"/>
          </a:xfrm>
        </p:spPr>
        <p:txBody>
          <a:bodyPr anchor="b">
            <a:normAutofit fontScale="90000"/>
          </a:bodyPr>
          <a:lstStyle/>
          <a:p>
            <a:r>
              <a:rPr lang="en-GB" dirty="0">
                <a:solidFill>
                  <a:schemeClr val="bg1"/>
                </a:solidFill>
              </a:rPr>
              <a:t>Company Description - Customer Company</a:t>
            </a:r>
            <a:endParaRPr lang="en-US" dirty="0">
              <a:solidFill>
                <a:schemeClr val="bg1"/>
              </a:solidFill>
            </a:endParaRPr>
          </a:p>
        </p:txBody>
      </p:sp>
      <p:sp>
        <p:nvSpPr>
          <p:cNvPr id="3" name="Subtitle 2">
            <a:extLst>
              <a:ext uri="{FF2B5EF4-FFF2-40B4-BE49-F238E27FC236}">
                <a16:creationId xmlns:a16="http://schemas.microsoft.com/office/drawing/2014/main" id="{73A0C8F8-2FAA-5199-6AFA-12E9CCF17268}"/>
              </a:ext>
            </a:extLst>
          </p:cNvPr>
          <p:cNvSpPr>
            <a:spLocks noGrp="1"/>
          </p:cNvSpPr>
          <p:nvPr>
            <p:ph type="subTitle" idx="1"/>
          </p:nvPr>
        </p:nvSpPr>
        <p:spPr>
          <a:xfrm>
            <a:off x="960120" y="4526280"/>
            <a:ext cx="10268712" cy="1508760"/>
          </a:xfrm>
        </p:spPr>
        <p:txBody>
          <a:bodyPr anchor="t">
            <a:normAutofit/>
          </a:bodyPr>
          <a:lstStyle/>
          <a:p>
            <a:endParaRPr lang="en-US">
              <a:solidFill>
                <a:schemeClr val="tx1"/>
              </a:solidFill>
            </a:endParaRPr>
          </a:p>
        </p:txBody>
      </p:sp>
    </p:spTree>
    <p:extLst>
      <p:ext uri="{BB962C8B-B14F-4D97-AF65-F5344CB8AC3E}">
        <p14:creationId xmlns:p14="http://schemas.microsoft.com/office/powerpoint/2010/main" val="1247996448"/>
      </p:ext>
    </p:extLst>
  </p:cSld>
  <p:clrMapOvr>
    <a:masterClrMapping/>
  </p:clrMapOvr>
  <mc:AlternateContent xmlns:mc="http://schemas.openxmlformats.org/markup-compatibility/2006">
    <mc:Choice xmlns:p14="http://schemas.microsoft.com/office/powerpoint/2010/main" Requires="p14">
      <p:transition spd="slow" p14:dur="2000" advTm="24757"/>
    </mc:Choice>
    <mc:Fallback>
      <p:transition spd="slow" advTm="24757"/>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D37BF-8FC4-9FA4-A1F0-230A2AA916EC}"/>
            </a:ext>
          </a:extLst>
        </p:cNvPr>
        <p:cNvGrpSpPr/>
        <p:nvPr/>
      </p:nvGrpSpPr>
      <p:grpSpPr>
        <a:xfrm>
          <a:off x="0" y="0"/>
          <a:ext cx="0" cy="0"/>
          <a:chOff x="0" y="0"/>
          <a:chExt cx="0" cy="0"/>
        </a:xfrm>
      </p:grpSpPr>
      <p:pic>
        <p:nvPicPr>
          <p:cNvPr id="4" name="Picture 3" descr="An abstract genetic concept">
            <a:extLst>
              <a:ext uri="{FF2B5EF4-FFF2-40B4-BE49-F238E27FC236}">
                <a16:creationId xmlns:a16="http://schemas.microsoft.com/office/drawing/2014/main" id="{AEA9FE79-4F83-3C5A-A346-5E7D29E8838C}"/>
              </a:ext>
            </a:extLst>
          </p:cNvPr>
          <p:cNvPicPr>
            <a:picLocks noChangeAspect="1"/>
          </p:cNvPicPr>
          <p:nvPr/>
        </p:nvPicPr>
        <p:blipFill rotWithShape="1">
          <a:blip r:embed="rId3">
            <a:alphaModFix amt="60000"/>
          </a:blip>
          <a:srcRect t="25613" b="18137"/>
          <a:stretch/>
        </p:blipFill>
        <p:spPr>
          <a:xfrm>
            <a:off x="20" y="10"/>
            <a:ext cx="12191980" cy="6857990"/>
          </a:xfrm>
          <a:prstGeom prst="rect">
            <a:avLst/>
          </a:prstGeom>
        </p:spPr>
      </p:pic>
      <p:sp>
        <p:nvSpPr>
          <p:cNvPr id="2" name="Title 1">
            <a:extLst>
              <a:ext uri="{FF2B5EF4-FFF2-40B4-BE49-F238E27FC236}">
                <a16:creationId xmlns:a16="http://schemas.microsoft.com/office/drawing/2014/main" id="{64F68A7C-A9EC-96F6-FFA9-0EBD7027C663}"/>
              </a:ext>
            </a:extLst>
          </p:cNvPr>
          <p:cNvSpPr>
            <a:spLocks noGrp="1"/>
          </p:cNvSpPr>
          <p:nvPr>
            <p:ph type="ctrTitle"/>
          </p:nvPr>
        </p:nvSpPr>
        <p:spPr>
          <a:xfrm>
            <a:off x="960120" y="640080"/>
            <a:ext cx="10268712" cy="3227832"/>
          </a:xfrm>
        </p:spPr>
        <p:txBody>
          <a:bodyPr anchor="b">
            <a:normAutofit fontScale="90000"/>
          </a:bodyPr>
          <a:lstStyle/>
          <a:p>
            <a:r>
              <a:rPr lang="en-GB" dirty="0">
                <a:solidFill>
                  <a:schemeClr val="bg1"/>
                </a:solidFill>
              </a:rPr>
              <a:t>The Role of 3PL Based on Interviews</a:t>
            </a:r>
            <a:endParaRPr lang="en-US" dirty="0">
              <a:solidFill>
                <a:schemeClr val="bg1"/>
              </a:solidFill>
            </a:endParaRPr>
          </a:p>
        </p:txBody>
      </p:sp>
      <p:sp>
        <p:nvSpPr>
          <p:cNvPr id="3" name="Subtitle 2">
            <a:extLst>
              <a:ext uri="{FF2B5EF4-FFF2-40B4-BE49-F238E27FC236}">
                <a16:creationId xmlns:a16="http://schemas.microsoft.com/office/drawing/2014/main" id="{35EFC753-F0ED-EA74-DEF1-C9EEB28BAA4B}"/>
              </a:ext>
            </a:extLst>
          </p:cNvPr>
          <p:cNvSpPr>
            <a:spLocks noGrp="1"/>
          </p:cNvSpPr>
          <p:nvPr>
            <p:ph type="subTitle" idx="1"/>
          </p:nvPr>
        </p:nvSpPr>
        <p:spPr>
          <a:xfrm>
            <a:off x="960120" y="4526280"/>
            <a:ext cx="10268712" cy="1508760"/>
          </a:xfrm>
        </p:spPr>
        <p:txBody>
          <a:bodyPr anchor="t">
            <a:normAutofit/>
          </a:bodyPr>
          <a:lstStyle/>
          <a:p>
            <a:endParaRPr lang="en-US">
              <a:solidFill>
                <a:schemeClr val="tx1"/>
              </a:solidFill>
            </a:endParaRPr>
          </a:p>
        </p:txBody>
      </p:sp>
    </p:spTree>
    <p:extLst>
      <p:ext uri="{BB962C8B-B14F-4D97-AF65-F5344CB8AC3E}">
        <p14:creationId xmlns:p14="http://schemas.microsoft.com/office/powerpoint/2010/main" val="3539396838"/>
      </p:ext>
    </p:extLst>
  </p:cSld>
  <p:clrMapOvr>
    <a:masterClrMapping/>
  </p:clrMapOvr>
  <mc:AlternateContent xmlns:mc="http://schemas.openxmlformats.org/markup-compatibility/2006">
    <mc:Choice xmlns:p14="http://schemas.microsoft.com/office/powerpoint/2010/main" Requires="p14">
      <p:transition spd="slow" p14:dur="2000" advTm="36060"/>
    </mc:Choice>
    <mc:Fallback>
      <p:transition spd="slow" advTm="3606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C78BB-B99F-00B7-EE6B-972CA6ED57B5}"/>
            </a:ext>
          </a:extLst>
        </p:cNvPr>
        <p:cNvGrpSpPr/>
        <p:nvPr/>
      </p:nvGrpSpPr>
      <p:grpSpPr>
        <a:xfrm>
          <a:off x="0" y="0"/>
          <a:ext cx="0" cy="0"/>
          <a:chOff x="0" y="0"/>
          <a:chExt cx="0" cy="0"/>
        </a:xfrm>
      </p:grpSpPr>
      <p:pic>
        <p:nvPicPr>
          <p:cNvPr id="4" name="Picture 3" descr="An abstract genetic concept">
            <a:extLst>
              <a:ext uri="{FF2B5EF4-FFF2-40B4-BE49-F238E27FC236}">
                <a16:creationId xmlns:a16="http://schemas.microsoft.com/office/drawing/2014/main" id="{B96FDB0A-1ECD-FCB8-8EA3-5A5265DC9BB5}"/>
              </a:ext>
            </a:extLst>
          </p:cNvPr>
          <p:cNvPicPr>
            <a:picLocks noChangeAspect="1"/>
          </p:cNvPicPr>
          <p:nvPr/>
        </p:nvPicPr>
        <p:blipFill rotWithShape="1">
          <a:blip r:embed="rId3">
            <a:alphaModFix amt="60000"/>
          </a:blip>
          <a:srcRect t="25613" b="18137"/>
          <a:stretch/>
        </p:blipFill>
        <p:spPr>
          <a:xfrm>
            <a:off x="20" y="10"/>
            <a:ext cx="12191980" cy="6857990"/>
          </a:xfrm>
          <a:prstGeom prst="rect">
            <a:avLst/>
          </a:prstGeom>
        </p:spPr>
      </p:pic>
      <p:sp>
        <p:nvSpPr>
          <p:cNvPr id="2" name="Title 1">
            <a:extLst>
              <a:ext uri="{FF2B5EF4-FFF2-40B4-BE49-F238E27FC236}">
                <a16:creationId xmlns:a16="http://schemas.microsoft.com/office/drawing/2014/main" id="{55E9B8BC-3269-622B-B6FB-AF90DE75BA35}"/>
              </a:ext>
            </a:extLst>
          </p:cNvPr>
          <p:cNvSpPr>
            <a:spLocks noGrp="1"/>
          </p:cNvSpPr>
          <p:nvPr>
            <p:ph type="ctrTitle"/>
          </p:nvPr>
        </p:nvSpPr>
        <p:spPr>
          <a:xfrm>
            <a:off x="960120" y="640080"/>
            <a:ext cx="10268712" cy="3227832"/>
          </a:xfrm>
        </p:spPr>
        <p:txBody>
          <a:bodyPr anchor="b">
            <a:normAutofit fontScale="90000"/>
          </a:bodyPr>
          <a:lstStyle/>
          <a:p>
            <a:r>
              <a:rPr lang="en-GB" dirty="0">
                <a:solidFill>
                  <a:schemeClr val="bg1"/>
                </a:solidFill>
              </a:rPr>
              <a:t>Discussion – Agreement with Theory</a:t>
            </a:r>
            <a:endParaRPr lang="en-US" dirty="0">
              <a:solidFill>
                <a:schemeClr val="bg1"/>
              </a:solidFill>
            </a:endParaRPr>
          </a:p>
        </p:txBody>
      </p:sp>
      <p:sp>
        <p:nvSpPr>
          <p:cNvPr id="3" name="Subtitle 2">
            <a:extLst>
              <a:ext uri="{FF2B5EF4-FFF2-40B4-BE49-F238E27FC236}">
                <a16:creationId xmlns:a16="http://schemas.microsoft.com/office/drawing/2014/main" id="{25F0B05D-A4B4-AC10-76B1-3A0E45982851}"/>
              </a:ext>
            </a:extLst>
          </p:cNvPr>
          <p:cNvSpPr>
            <a:spLocks noGrp="1"/>
          </p:cNvSpPr>
          <p:nvPr>
            <p:ph type="subTitle" idx="1"/>
          </p:nvPr>
        </p:nvSpPr>
        <p:spPr>
          <a:xfrm>
            <a:off x="960120" y="4526280"/>
            <a:ext cx="10268712" cy="1508760"/>
          </a:xfrm>
        </p:spPr>
        <p:txBody>
          <a:bodyPr anchor="t">
            <a:normAutofit/>
          </a:bodyPr>
          <a:lstStyle/>
          <a:p>
            <a:endParaRPr lang="en-US">
              <a:solidFill>
                <a:schemeClr val="tx1"/>
              </a:solidFill>
            </a:endParaRPr>
          </a:p>
        </p:txBody>
      </p:sp>
    </p:spTree>
    <p:extLst>
      <p:ext uri="{BB962C8B-B14F-4D97-AF65-F5344CB8AC3E}">
        <p14:creationId xmlns:p14="http://schemas.microsoft.com/office/powerpoint/2010/main" val="3448660752"/>
      </p:ext>
    </p:extLst>
  </p:cSld>
  <p:clrMapOvr>
    <a:masterClrMapping/>
  </p:clrMapOvr>
  <mc:AlternateContent xmlns:mc="http://schemas.openxmlformats.org/markup-compatibility/2006">
    <mc:Choice xmlns:p14="http://schemas.microsoft.com/office/powerpoint/2010/main" Requires="p14">
      <p:transition spd="slow" p14:dur="2000" advTm="24945"/>
    </mc:Choice>
    <mc:Fallback>
      <p:transition spd="slow" advTm="24945"/>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ADF3A-0A52-D1B8-3F0C-ECEECBCD56D2}"/>
            </a:ext>
          </a:extLst>
        </p:cNvPr>
        <p:cNvGrpSpPr/>
        <p:nvPr/>
      </p:nvGrpSpPr>
      <p:grpSpPr>
        <a:xfrm>
          <a:off x="0" y="0"/>
          <a:ext cx="0" cy="0"/>
          <a:chOff x="0" y="0"/>
          <a:chExt cx="0" cy="0"/>
        </a:xfrm>
      </p:grpSpPr>
      <p:pic>
        <p:nvPicPr>
          <p:cNvPr id="4" name="Picture 3" descr="An abstract genetic concept">
            <a:extLst>
              <a:ext uri="{FF2B5EF4-FFF2-40B4-BE49-F238E27FC236}">
                <a16:creationId xmlns:a16="http://schemas.microsoft.com/office/drawing/2014/main" id="{9E893CFB-4D1E-0E18-3394-7701FE5BCA55}"/>
              </a:ext>
            </a:extLst>
          </p:cNvPr>
          <p:cNvPicPr>
            <a:picLocks noChangeAspect="1"/>
          </p:cNvPicPr>
          <p:nvPr/>
        </p:nvPicPr>
        <p:blipFill rotWithShape="1">
          <a:blip r:embed="rId3">
            <a:alphaModFix amt="60000"/>
          </a:blip>
          <a:srcRect t="25613" b="18137"/>
          <a:stretch/>
        </p:blipFill>
        <p:spPr>
          <a:xfrm>
            <a:off x="20" y="10"/>
            <a:ext cx="12191980" cy="6857990"/>
          </a:xfrm>
          <a:prstGeom prst="rect">
            <a:avLst/>
          </a:prstGeom>
        </p:spPr>
      </p:pic>
      <p:sp>
        <p:nvSpPr>
          <p:cNvPr id="2" name="Title 1">
            <a:extLst>
              <a:ext uri="{FF2B5EF4-FFF2-40B4-BE49-F238E27FC236}">
                <a16:creationId xmlns:a16="http://schemas.microsoft.com/office/drawing/2014/main" id="{67DEC1B3-1B67-A92D-FC6F-CEE936C407AE}"/>
              </a:ext>
            </a:extLst>
          </p:cNvPr>
          <p:cNvSpPr>
            <a:spLocks noGrp="1"/>
          </p:cNvSpPr>
          <p:nvPr>
            <p:ph type="ctrTitle"/>
          </p:nvPr>
        </p:nvSpPr>
        <p:spPr>
          <a:xfrm>
            <a:off x="979998" y="2449003"/>
            <a:ext cx="10268712" cy="3227832"/>
          </a:xfrm>
        </p:spPr>
        <p:txBody>
          <a:bodyPr anchor="b">
            <a:normAutofit fontScale="90000"/>
          </a:bodyPr>
          <a:lstStyle/>
          <a:p>
            <a:r>
              <a:rPr lang="en-GB" dirty="0">
                <a:solidFill>
                  <a:schemeClr val="bg1"/>
                </a:solidFill>
              </a:rPr>
              <a:t>Discussion - Differences between Providers and Customers</a:t>
            </a:r>
            <a:endParaRPr lang="en-US" dirty="0">
              <a:solidFill>
                <a:schemeClr val="bg1"/>
              </a:solidFill>
            </a:endParaRPr>
          </a:p>
        </p:txBody>
      </p:sp>
      <p:sp>
        <p:nvSpPr>
          <p:cNvPr id="3" name="Subtitle 2">
            <a:extLst>
              <a:ext uri="{FF2B5EF4-FFF2-40B4-BE49-F238E27FC236}">
                <a16:creationId xmlns:a16="http://schemas.microsoft.com/office/drawing/2014/main" id="{CC0C6962-B1C4-C735-84EC-0C1BB4F79790}"/>
              </a:ext>
            </a:extLst>
          </p:cNvPr>
          <p:cNvSpPr>
            <a:spLocks noGrp="1"/>
          </p:cNvSpPr>
          <p:nvPr>
            <p:ph type="subTitle" idx="1"/>
          </p:nvPr>
        </p:nvSpPr>
        <p:spPr>
          <a:xfrm>
            <a:off x="960120" y="4526280"/>
            <a:ext cx="10268712" cy="1508760"/>
          </a:xfrm>
        </p:spPr>
        <p:txBody>
          <a:bodyPr anchor="t">
            <a:normAutofit/>
          </a:bodyPr>
          <a:lstStyle/>
          <a:p>
            <a:endParaRPr lang="en-US">
              <a:solidFill>
                <a:schemeClr val="tx1"/>
              </a:solidFill>
            </a:endParaRPr>
          </a:p>
        </p:txBody>
      </p:sp>
    </p:spTree>
    <p:extLst>
      <p:ext uri="{BB962C8B-B14F-4D97-AF65-F5344CB8AC3E}">
        <p14:creationId xmlns:p14="http://schemas.microsoft.com/office/powerpoint/2010/main" val="1240741792"/>
      </p:ext>
    </p:extLst>
  </p:cSld>
  <p:clrMapOvr>
    <a:masterClrMapping/>
  </p:clrMapOvr>
  <mc:AlternateContent xmlns:mc="http://schemas.openxmlformats.org/markup-compatibility/2006">
    <mc:Choice xmlns:p14="http://schemas.microsoft.com/office/powerpoint/2010/main" Requires="p14">
      <p:transition spd="slow" p14:dur="2000" advTm="28237"/>
    </mc:Choice>
    <mc:Fallback>
      <p:transition spd="slow" advTm="2823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FE490-97A6-E75F-0A0F-56AED19D6AAE}"/>
            </a:ext>
          </a:extLst>
        </p:cNvPr>
        <p:cNvGrpSpPr/>
        <p:nvPr/>
      </p:nvGrpSpPr>
      <p:grpSpPr>
        <a:xfrm>
          <a:off x="0" y="0"/>
          <a:ext cx="0" cy="0"/>
          <a:chOff x="0" y="0"/>
          <a:chExt cx="0" cy="0"/>
        </a:xfrm>
      </p:grpSpPr>
      <p:pic>
        <p:nvPicPr>
          <p:cNvPr id="4" name="Picture 3" descr="An abstract genetic concept">
            <a:extLst>
              <a:ext uri="{FF2B5EF4-FFF2-40B4-BE49-F238E27FC236}">
                <a16:creationId xmlns:a16="http://schemas.microsoft.com/office/drawing/2014/main" id="{6BB17817-FDEC-CCC6-A9A3-C9278E0322D5}"/>
              </a:ext>
            </a:extLst>
          </p:cNvPr>
          <p:cNvPicPr>
            <a:picLocks noChangeAspect="1"/>
          </p:cNvPicPr>
          <p:nvPr/>
        </p:nvPicPr>
        <p:blipFill rotWithShape="1">
          <a:blip r:embed="rId3">
            <a:alphaModFix amt="60000"/>
          </a:blip>
          <a:srcRect t="25613" b="18137"/>
          <a:stretch/>
        </p:blipFill>
        <p:spPr>
          <a:xfrm>
            <a:off x="20" y="-19868"/>
            <a:ext cx="12191980" cy="6857990"/>
          </a:xfrm>
          <a:prstGeom prst="rect">
            <a:avLst/>
          </a:prstGeom>
        </p:spPr>
      </p:pic>
      <p:sp>
        <p:nvSpPr>
          <p:cNvPr id="2" name="Title 1">
            <a:extLst>
              <a:ext uri="{FF2B5EF4-FFF2-40B4-BE49-F238E27FC236}">
                <a16:creationId xmlns:a16="http://schemas.microsoft.com/office/drawing/2014/main" id="{4DBDF79B-1FB0-E664-F2FD-CAD970EA00A2}"/>
              </a:ext>
            </a:extLst>
          </p:cNvPr>
          <p:cNvSpPr>
            <a:spLocks noGrp="1"/>
          </p:cNvSpPr>
          <p:nvPr>
            <p:ph type="ctrTitle"/>
          </p:nvPr>
        </p:nvSpPr>
        <p:spPr>
          <a:xfrm>
            <a:off x="961644" y="956541"/>
            <a:ext cx="10268712" cy="3227832"/>
          </a:xfrm>
        </p:spPr>
        <p:txBody>
          <a:bodyPr anchor="b">
            <a:normAutofit/>
          </a:bodyPr>
          <a:lstStyle/>
          <a:p>
            <a:r>
              <a:rPr lang="en-GB" dirty="0">
                <a:solidFill>
                  <a:schemeClr val="bg1"/>
                </a:solidFill>
              </a:rPr>
              <a:t>Discussion - Own View of the Role</a:t>
            </a:r>
            <a:endParaRPr lang="en-US" dirty="0">
              <a:solidFill>
                <a:schemeClr val="bg1"/>
              </a:solidFill>
            </a:endParaRPr>
          </a:p>
        </p:txBody>
      </p:sp>
    </p:spTree>
    <p:extLst>
      <p:ext uri="{BB962C8B-B14F-4D97-AF65-F5344CB8AC3E}">
        <p14:creationId xmlns:p14="http://schemas.microsoft.com/office/powerpoint/2010/main" val="2020334706"/>
      </p:ext>
    </p:extLst>
  </p:cSld>
  <p:clrMapOvr>
    <a:masterClrMapping/>
  </p:clrMapOvr>
  <mc:AlternateContent xmlns:mc="http://schemas.openxmlformats.org/markup-compatibility/2006">
    <mc:Choice xmlns:p14="http://schemas.microsoft.com/office/powerpoint/2010/main" Requires="p14">
      <p:transition spd="slow" p14:dur="2000" advTm="27971"/>
    </mc:Choice>
    <mc:Fallback>
      <p:transition spd="slow" advTm="2797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4C78C-D18F-C002-3B58-175C912CC8E3}"/>
            </a:ext>
          </a:extLst>
        </p:cNvPr>
        <p:cNvGrpSpPr/>
        <p:nvPr/>
      </p:nvGrpSpPr>
      <p:grpSpPr>
        <a:xfrm>
          <a:off x="0" y="0"/>
          <a:ext cx="0" cy="0"/>
          <a:chOff x="0" y="0"/>
          <a:chExt cx="0" cy="0"/>
        </a:xfrm>
      </p:grpSpPr>
      <p:pic>
        <p:nvPicPr>
          <p:cNvPr id="4" name="Picture 3" descr="An abstract genetic concept">
            <a:extLst>
              <a:ext uri="{FF2B5EF4-FFF2-40B4-BE49-F238E27FC236}">
                <a16:creationId xmlns:a16="http://schemas.microsoft.com/office/drawing/2014/main" id="{0133C17F-5044-C2D9-2E06-E3BA25CE0258}"/>
              </a:ext>
            </a:extLst>
          </p:cNvPr>
          <p:cNvPicPr>
            <a:picLocks noChangeAspect="1"/>
          </p:cNvPicPr>
          <p:nvPr/>
        </p:nvPicPr>
        <p:blipFill rotWithShape="1">
          <a:blip r:embed="rId3">
            <a:alphaModFix amt="60000"/>
          </a:blip>
          <a:srcRect t="25613" b="18137"/>
          <a:stretch/>
        </p:blipFill>
        <p:spPr>
          <a:xfrm>
            <a:off x="20" y="-19868"/>
            <a:ext cx="12191980" cy="6857990"/>
          </a:xfrm>
          <a:prstGeom prst="rect">
            <a:avLst/>
          </a:prstGeom>
        </p:spPr>
      </p:pic>
      <p:sp>
        <p:nvSpPr>
          <p:cNvPr id="2" name="Title 1">
            <a:extLst>
              <a:ext uri="{FF2B5EF4-FFF2-40B4-BE49-F238E27FC236}">
                <a16:creationId xmlns:a16="http://schemas.microsoft.com/office/drawing/2014/main" id="{E0CAE7C8-191F-FF1E-3A12-A1131800F988}"/>
              </a:ext>
            </a:extLst>
          </p:cNvPr>
          <p:cNvSpPr>
            <a:spLocks noGrp="1"/>
          </p:cNvSpPr>
          <p:nvPr>
            <p:ph type="ctrTitle"/>
          </p:nvPr>
        </p:nvSpPr>
        <p:spPr>
          <a:xfrm>
            <a:off x="961644" y="956541"/>
            <a:ext cx="10268712" cy="3227832"/>
          </a:xfrm>
        </p:spPr>
        <p:txBody>
          <a:bodyPr anchor="b">
            <a:normAutofit/>
          </a:bodyPr>
          <a:lstStyle/>
          <a:p>
            <a:r>
              <a:rPr lang="en-GB" dirty="0">
                <a:solidFill>
                  <a:schemeClr val="bg1"/>
                </a:solidFill>
              </a:rPr>
              <a:t>The Future Role of 3PL </a:t>
            </a:r>
            <a:endParaRPr lang="en-US" dirty="0">
              <a:solidFill>
                <a:schemeClr val="bg1"/>
              </a:solidFill>
            </a:endParaRPr>
          </a:p>
        </p:txBody>
      </p:sp>
    </p:spTree>
    <p:extLst>
      <p:ext uri="{BB962C8B-B14F-4D97-AF65-F5344CB8AC3E}">
        <p14:creationId xmlns:p14="http://schemas.microsoft.com/office/powerpoint/2010/main" val="2131080244"/>
      </p:ext>
    </p:extLst>
  </p:cSld>
  <p:clrMapOvr>
    <a:masterClrMapping/>
  </p:clrMapOvr>
  <mc:AlternateContent xmlns:mc="http://schemas.openxmlformats.org/markup-compatibility/2006">
    <mc:Choice xmlns:p14="http://schemas.microsoft.com/office/powerpoint/2010/main" Requires="p14">
      <p:transition spd="slow" p14:dur="2000" advTm="33775"/>
    </mc:Choice>
    <mc:Fallback>
      <p:transition spd="slow" advTm="33775"/>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92A05-9092-939E-BAC7-82ECCCCFEC38}"/>
            </a:ext>
          </a:extLst>
        </p:cNvPr>
        <p:cNvGrpSpPr/>
        <p:nvPr/>
      </p:nvGrpSpPr>
      <p:grpSpPr>
        <a:xfrm>
          <a:off x="0" y="0"/>
          <a:ext cx="0" cy="0"/>
          <a:chOff x="0" y="0"/>
          <a:chExt cx="0" cy="0"/>
        </a:xfrm>
      </p:grpSpPr>
      <p:pic>
        <p:nvPicPr>
          <p:cNvPr id="4" name="Picture 3" descr="An abstract genetic concept">
            <a:extLst>
              <a:ext uri="{FF2B5EF4-FFF2-40B4-BE49-F238E27FC236}">
                <a16:creationId xmlns:a16="http://schemas.microsoft.com/office/drawing/2014/main" id="{FA02C9EA-719A-7537-A8C7-237739B397C0}"/>
              </a:ext>
            </a:extLst>
          </p:cNvPr>
          <p:cNvPicPr>
            <a:picLocks noChangeAspect="1"/>
          </p:cNvPicPr>
          <p:nvPr/>
        </p:nvPicPr>
        <p:blipFill rotWithShape="1">
          <a:blip r:embed="rId3">
            <a:alphaModFix amt="60000"/>
          </a:blip>
          <a:srcRect t="25613" b="18137"/>
          <a:stretch/>
        </p:blipFill>
        <p:spPr>
          <a:xfrm>
            <a:off x="20" y="-19868"/>
            <a:ext cx="12191980" cy="6857990"/>
          </a:xfrm>
          <a:prstGeom prst="rect">
            <a:avLst/>
          </a:prstGeom>
        </p:spPr>
      </p:pic>
      <p:sp>
        <p:nvSpPr>
          <p:cNvPr id="2" name="Title 1">
            <a:extLst>
              <a:ext uri="{FF2B5EF4-FFF2-40B4-BE49-F238E27FC236}">
                <a16:creationId xmlns:a16="http://schemas.microsoft.com/office/drawing/2014/main" id="{CEB3FA29-EB93-9632-958C-BE1FE2B665D5}"/>
              </a:ext>
            </a:extLst>
          </p:cNvPr>
          <p:cNvSpPr>
            <a:spLocks noGrp="1"/>
          </p:cNvSpPr>
          <p:nvPr>
            <p:ph type="ctrTitle"/>
          </p:nvPr>
        </p:nvSpPr>
        <p:spPr>
          <a:xfrm>
            <a:off x="961644" y="956541"/>
            <a:ext cx="10268712" cy="3227832"/>
          </a:xfrm>
        </p:spPr>
        <p:txBody>
          <a:bodyPr anchor="b">
            <a:normAutofit/>
          </a:bodyPr>
          <a:lstStyle/>
          <a:p>
            <a:r>
              <a:rPr lang="en-GB" dirty="0">
                <a:solidFill>
                  <a:schemeClr val="bg1"/>
                </a:solidFill>
              </a:rPr>
              <a:t>Conclusion</a:t>
            </a:r>
            <a:endParaRPr lang="en-US" dirty="0">
              <a:solidFill>
                <a:schemeClr val="bg1"/>
              </a:solidFill>
            </a:endParaRPr>
          </a:p>
        </p:txBody>
      </p:sp>
    </p:spTree>
    <p:extLst>
      <p:ext uri="{BB962C8B-B14F-4D97-AF65-F5344CB8AC3E}">
        <p14:creationId xmlns:p14="http://schemas.microsoft.com/office/powerpoint/2010/main" val="2493381565"/>
      </p:ext>
    </p:extLst>
  </p:cSld>
  <p:clrMapOvr>
    <a:masterClrMapping/>
  </p:clrMapOvr>
  <mc:AlternateContent xmlns:mc="http://schemas.openxmlformats.org/markup-compatibility/2006">
    <mc:Choice xmlns:p14="http://schemas.microsoft.com/office/powerpoint/2010/main" Requires="p14">
      <p:transition spd="slow" p14:dur="2000" advTm="19351"/>
    </mc:Choice>
    <mc:Fallback>
      <p:transition spd="slow" advTm="19351"/>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045F6-592A-F149-FBE1-A9A891D2B561}"/>
            </a:ext>
          </a:extLst>
        </p:cNvPr>
        <p:cNvGrpSpPr/>
        <p:nvPr/>
      </p:nvGrpSpPr>
      <p:grpSpPr>
        <a:xfrm>
          <a:off x="0" y="0"/>
          <a:ext cx="0" cy="0"/>
          <a:chOff x="0" y="0"/>
          <a:chExt cx="0" cy="0"/>
        </a:xfrm>
      </p:grpSpPr>
      <p:pic>
        <p:nvPicPr>
          <p:cNvPr id="4" name="Picture 3" descr="An abstract genetic concept">
            <a:extLst>
              <a:ext uri="{FF2B5EF4-FFF2-40B4-BE49-F238E27FC236}">
                <a16:creationId xmlns:a16="http://schemas.microsoft.com/office/drawing/2014/main" id="{29D4BCDD-9F20-8C07-7481-FD8DEB16FF27}"/>
              </a:ext>
            </a:extLst>
          </p:cNvPr>
          <p:cNvPicPr>
            <a:picLocks noChangeAspect="1"/>
          </p:cNvPicPr>
          <p:nvPr/>
        </p:nvPicPr>
        <p:blipFill rotWithShape="1">
          <a:blip r:embed="rId3">
            <a:alphaModFix amt="60000"/>
          </a:blip>
          <a:srcRect t="25613" b="18137"/>
          <a:stretch/>
        </p:blipFill>
        <p:spPr>
          <a:xfrm>
            <a:off x="20" y="-19868"/>
            <a:ext cx="12191980" cy="6857990"/>
          </a:xfrm>
          <a:prstGeom prst="rect">
            <a:avLst/>
          </a:prstGeom>
        </p:spPr>
      </p:pic>
      <p:sp>
        <p:nvSpPr>
          <p:cNvPr id="2" name="Title 1">
            <a:extLst>
              <a:ext uri="{FF2B5EF4-FFF2-40B4-BE49-F238E27FC236}">
                <a16:creationId xmlns:a16="http://schemas.microsoft.com/office/drawing/2014/main" id="{7456B609-D82F-4275-09FC-0F0B111B4792}"/>
              </a:ext>
            </a:extLst>
          </p:cNvPr>
          <p:cNvSpPr>
            <a:spLocks noGrp="1"/>
          </p:cNvSpPr>
          <p:nvPr>
            <p:ph type="ctrTitle"/>
          </p:nvPr>
        </p:nvSpPr>
        <p:spPr>
          <a:xfrm>
            <a:off x="961644" y="956541"/>
            <a:ext cx="10268712" cy="3227832"/>
          </a:xfrm>
        </p:spPr>
        <p:txBody>
          <a:bodyPr anchor="b">
            <a:normAutofit/>
          </a:bodyPr>
          <a:lstStyle/>
          <a:p>
            <a:r>
              <a:rPr lang="en-GB" dirty="0">
                <a:solidFill>
                  <a:schemeClr val="bg1"/>
                </a:solidFill>
              </a:rPr>
              <a:t>Thank you!</a:t>
            </a:r>
            <a:endParaRPr lang="en-US" dirty="0">
              <a:solidFill>
                <a:schemeClr val="bg1"/>
              </a:solidFill>
            </a:endParaRPr>
          </a:p>
        </p:txBody>
      </p:sp>
    </p:spTree>
    <p:extLst>
      <p:ext uri="{BB962C8B-B14F-4D97-AF65-F5344CB8AC3E}">
        <p14:creationId xmlns:p14="http://schemas.microsoft.com/office/powerpoint/2010/main" val="1326977421"/>
      </p:ext>
    </p:extLst>
  </p:cSld>
  <p:clrMapOvr>
    <a:masterClrMapping/>
  </p:clrMapOvr>
  <mc:AlternateContent xmlns:mc="http://schemas.openxmlformats.org/markup-compatibility/2006">
    <mc:Choice xmlns:p14="http://schemas.microsoft.com/office/powerpoint/2010/main" Requires="p14">
      <p:transition spd="slow" p14:dur="2000" advTm="4861"/>
    </mc:Choice>
    <mc:Fallback>
      <p:transition spd="slow" advTm="4861"/>
    </mc:Fallback>
  </mc:AlternateContent>
</p:sld>
</file>

<file path=ppt/theme/theme1.xml><?xml version="1.0" encoding="utf-8"?>
<a:theme xmlns:a="http://schemas.openxmlformats.org/drawingml/2006/main" name="JuxtaposeVTI">
  <a:themeElements>
    <a:clrScheme name="AnalogousFromLightSeedLeftStep">
      <a:dk1>
        <a:srgbClr val="000000"/>
      </a:dk1>
      <a:lt1>
        <a:srgbClr val="FFFFFF"/>
      </a:lt1>
      <a:dk2>
        <a:srgbClr val="24393F"/>
      </a:dk2>
      <a:lt2>
        <a:srgbClr val="E8E8E2"/>
      </a:lt2>
      <a:accent1>
        <a:srgbClr val="8885D7"/>
      </a:accent1>
      <a:accent2>
        <a:srgbClr val="6A90CE"/>
      </a:accent2>
      <a:accent3>
        <a:srgbClr val="5AAEC3"/>
      </a:accent3>
      <a:accent4>
        <a:srgbClr val="5DB4A2"/>
      </a:accent4>
      <a:accent5>
        <a:srgbClr val="68B484"/>
      </a:accent5>
      <a:accent6>
        <a:srgbClr val="62B65E"/>
      </a:accent6>
      <a:hlink>
        <a:srgbClr val="848651"/>
      </a:hlink>
      <a:folHlink>
        <a:srgbClr val="7F7F7F"/>
      </a:folHlink>
    </a:clrScheme>
    <a:fontScheme name="Custom 167">
      <a:majorFont>
        <a:latin typeface="Franklin Gothic Demi Cond"/>
        <a:ea typeface=""/>
        <a:cs typeface=""/>
      </a:majorFont>
      <a:minorFont>
        <a:latin typeface="Franklin Gothic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uxtaposeVTI" id="{FBDCC3B4-6EA8-442A-B697-43C068E31FE3}" vid="{090F2E09-E4E2-4F71-A70E-279F5A0D9E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656</Words>
  <Application>Microsoft Office PowerPoint</Application>
  <PresentationFormat>Widescreen</PresentationFormat>
  <Paragraphs>51</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Franklin Gothic Demi Cond</vt:lpstr>
      <vt:lpstr>Franklin Gothic Medium</vt:lpstr>
      <vt:lpstr>Wingdings</vt:lpstr>
      <vt:lpstr>JuxtaposeVTI</vt:lpstr>
      <vt:lpstr>ColliCare</vt:lpstr>
      <vt:lpstr>Theoretical Foundation</vt:lpstr>
      <vt:lpstr>Data Collection Process</vt:lpstr>
      <vt:lpstr>Company Description</vt:lpstr>
      <vt:lpstr>Company Description - Customer Company</vt:lpstr>
      <vt:lpstr>The Role of 3PL Based on Interviews</vt:lpstr>
      <vt:lpstr>Discussion – Agreement with Theory</vt:lpstr>
      <vt:lpstr>Discussion - Differences between Providers and Customers</vt:lpstr>
      <vt:lpstr>Discussion - Own View of the Role</vt:lpstr>
      <vt:lpstr>The Future Role of 3PL </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ColliCare</dc:title>
  <dc:creator>Xingrong Zong</dc:creator>
  <cp:lastModifiedBy>Xingrong Zong</cp:lastModifiedBy>
  <cp:revision>3</cp:revision>
  <dcterms:created xsi:type="dcterms:W3CDTF">2024-02-12T05:37:13Z</dcterms:created>
  <dcterms:modified xsi:type="dcterms:W3CDTF">2024-02-12T06:12:53Z</dcterms:modified>
</cp:coreProperties>
</file>