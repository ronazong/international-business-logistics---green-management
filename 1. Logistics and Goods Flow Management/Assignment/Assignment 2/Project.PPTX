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61" r:id="rId3"/>
    <p:sldId id="260" r:id="rId4"/>
    <p:sldId id="262" r:id="rId5"/>
    <p:sldId id="263" r:id="rId6"/>
    <p:sldId id="264" r:id="rId7"/>
    <p:sldId id="265" r:id="rId8"/>
    <p:sldId id="266" r:id="rId9"/>
    <p:sldId id="267" r:id="rId10"/>
    <p:sldId id="268" r:id="rId11"/>
    <p:sldId id="269" r:id="rId12"/>
    <p:sldId id="270"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242" autoAdjust="0"/>
  </p:normalViewPr>
  <p:slideViewPr>
    <p:cSldViewPr snapToGrid="0">
      <p:cViewPr>
        <p:scale>
          <a:sx n="93" d="100"/>
          <a:sy n="93" d="100"/>
        </p:scale>
        <p:origin x="-3403" y="-50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663036-9B19-47F3-9A34-D19C121BB00F}" type="datetimeFigureOut">
              <a:rPr lang="en-US" smtClean="0"/>
              <a:t>2/12/2024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7AA239-8DC3-4145-BA56-0DCBC5C6E83B}" type="slidenum">
              <a:rPr lang="en-US" smtClean="0"/>
              <a:t>‹#›</a:t>
            </a:fld>
            <a:endParaRPr lang="en-US"/>
          </a:p>
        </p:txBody>
      </p:sp>
    </p:spTree>
    <p:extLst>
      <p:ext uri="{BB962C8B-B14F-4D97-AF65-F5344CB8AC3E}">
        <p14:creationId xmlns:p14="http://schemas.microsoft.com/office/powerpoint/2010/main" val="993084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D0D0D"/>
                </a:solidFill>
                <a:effectLst/>
                <a:latin typeface="Söhne"/>
              </a:rPr>
              <a:t>Good [morning/afternoon/evening], everyone. Today, I am excited to present our improvement project focused on "Enhancing Material Flow in Manufacturing."</a:t>
            </a:r>
          </a:p>
        </p:txBody>
      </p:sp>
      <p:sp>
        <p:nvSpPr>
          <p:cNvPr id="4" name="Slide Number Placeholder 3"/>
          <p:cNvSpPr>
            <a:spLocks noGrp="1"/>
          </p:cNvSpPr>
          <p:nvPr>
            <p:ph type="sldNum" sz="quarter" idx="5"/>
          </p:nvPr>
        </p:nvSpPr>
        <p:spPr/>
        <p:txBody>
          <a:bodyPr/>
          <a:lstStyle/>
          <a:p>
            <a:fld id="{247AA239-8DC3-4145-BA56-0DCBC5C6E83B}" type="slidenum">
              <a:rPr lang="en-US" smtClean="0"/>
              <a:t>1</a:t>
            </a:fld>
            <a:endParaRPr lang="en-US"/>
          </a:p>
        </p:txBody>
      </p:sp>
    </p:spTree>
    <p:extLst>
      <p:ext uri="{BB962C8B-B14F-4D97-AF65-F5344CB8AC3E}">
        <p14:creationId xmlns:p14="http://schemas.microsoft.com/office/powerpoint/2010/main" val="3472941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D0D0D"/>
                </a:solidFill>
                <a:effectLst/>
                <a:latin typeface="Söhne"/>
              </a:rPr>
              <a:t>This strategic initiative aims to minimize waste, increase throughput, and reduce environmental impact, aligning with the current industry challenges and ecological considerations. This project is a culmination of our efforts to address inefficiencies in manufacturing operations, with a keen focus on sustainability and cost-effectiveness.</a:t>
            </a:r>
          </a:p>
        </p:txBody>
      </p:sp>
      <p:sp>
        <p:nvSpPr>
          <p:cNvPr id="4" name="Slide Number Placeholder 3"/>
          <p:cNvSpPr>
            <a:spLocks noGrp="1"/>
          </p:cNvSpPr>
          <p:nvPr>
            <p:ph type="sldNum" sz="quarter" idx="5"/>
          </p:nvPr>
        </p:nvSpPr>
        <p:spPr/>
        <p:txBody>
          <a:bodyPr/>
          <a:lstStyle/>
          <a:p>
            <a:fld id="{247AA239-8DC3-4145-BA56-0DCBC5C6E83B}" type="slidenum">
              <a:rPr lang="en-US" smtClean="0"/>
              <a:t>2</a:t>
            </a:fld>
            <a:endParaRPr lang="en-US"/>
          </a:p>
        </p:txBody>
      </p:sp>
    </p:spTree>
    <p:extLst>
      <p:ext uri="{BB962C8B-B14F-4D97-AF65-F5344CB8AC3E}">
        <p14:creationId xmlns:p14="http://schemas.microsoft.com/office/powerpoint/2010/main" val="2409235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ever-evolving landscape of manufacturing, the need to optimize material flow becomes evident. Our project addresses challenges arising from inefficiencies, such as increased costs, delays, excess movement of goods, and environmental footprint. By delving into material flow within manufacturing facilities, we target the core operational intricacies hindering seamless production processes.</a:t>
            </a:r>
            <a:endParaRPr lang="en-US" dirty="0"/>
          </a:p>
        </p:txBody>
      </p:sp>
      <p:sp>
        <p:nvSpPr>
          <p:cNvPr id="4" name="Slide Number Placeholder 3"/>
          <p:cNvSpPr>
            <a:spLocks noGrp="1"/>
          </p:cNvSpPr>
          <p:nvPr>
            <p:ph type="sldNum" sz="quarter" idx="5"/>
          </p:nvPr>
        </p:nvSpPr>
        <p:spPr/>
        <p:txBody>
          <a:bodyPr/>
          <a:lstStyle/>
          <a:p>
            <a:fld id="{247AA239-8DC3-4145-BA56-0DCBC5C6E83B}" type="slidenum">
              <a:rPr lang="en-US" smtClean="0"/>
              <a:t>3</a:t>
            </a:fld>
            <a:endParaRPr lang="en-US"/>
          </a:p>
        </p:txBody>
      </p:sp>
    </p:spTree>
    <p:extLst>
      <p:ext uri="{BB962C8B-B14F-4D97-AF65-F5344CB8AC3E}">
        <p14:creationId xmlns:p14="http://schemas.microsoft.com/office/powerpoint/2010/main" val="779560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analysis of the current material flow in manufacturing reveals inefficiencies that ripple through the entire production process. These include increased costs, needless delays, and an environmental footprint that demands attention. Recognizing these challenges is the first step towards a sustainable and cost-effective future.</a:t>
            </a:r>
            <a:endParaRPr lang="en-US" dirty="0"/>
          </a:p>
        </p:txBody>
      </p:sp>
      <p:sp>
        <p:nvSpPr>
          <p:cNvPr id="4" name="Slide Number Placeholder 3"/>
          <p:cNvSpPr>
            <a:spLocks noGrp="1"/>
          </p:cNvSpPr>
          <p:nvPr>
            <p:ph type="sldNum" sz="quarter" idx="5"/>
          </p:nvPr>
        </p:nvSpPr>
        <p:spPr/>
        <p:txBody>
          <a:bodyPr/>
          <a:lstStyle/>
          <a:p>
            <a:fld id="{247AA239-8DC3-4145-BA56-0DCBC5C6E83B}" type="slidenum">
              <a:rPr lang="en-US" smtClean="0"/>
              <a:t>4</a:t>
            </a:fld>
            <a:endParaRPr lang="en-US"/>
          </a:p>
        </p:txBody>
      </p:sp>
    </p:spTree>
    <p:extLst>
      <p:ext uri="{BB962C8B-B14F-4D97-AF65-F5344CB8AC3E}">
        <p14:creationId xmlns:p14="http://schemas.microsoft.com/office/powerpoint/2010/main" val="3820009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purpose is to identify, plan, and present an improvement project that addresses these challenges while aligning with the broader goals of higher efficiency, cost savings, time savings, increased revenue, and reduced environmental impact. Key questions driving this project include specific inefficiencies, improvement measures, potential obstacles, and overall feasibility.</a:t>
            </a:r>
            <a:endParaRPr lang="en-US" dirty="0"/>
          </a:p>
        </p:txBody>
      </p:sp>
      <p:sp>
        <p:nvSpPr>
          <p:cNvPr id="4" name="Slide Number Placeholder 3"/>
          <p:cNvSpPr>
            <a:spLocks noGrp="1"/>
          </p:cNvSpPr>
          <p:nvPr>
            <p:ph type="sldNum" sz="quarter" idx="5"/>
          </p:nvPr>
        </p:nvSpPr>
        <p:spPr/>
        <p:txBody>
          <a:bodyPr/>
          <a:lstStyle/>
          <a:p>
            <a:fld id="{247AA239-8DC3-4145-BA56-0DCBC5C6E83B}" type="slidenum">
              <a:rPr lang="en-US" smtClean="0"/>
              <a:t>5</a:t>
            </a:fld>
            <a:endParaRPr lang="en-US"/>
          </a:p>
        </p:txBody>
      </p:sp>
    </p:spTree>
    <p:extLst>
      <p:ext uri="{BB962C8B-B14F-4D97-AF65-F5344CB8AC3E}">
        <p14:creationId xmlns:p14="http://schemas.microsoft.com/office/powerpoint/2010/main" val="2696487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maintain focus and relevance, our project's scope is limited to material flow within the manufacturing facility, encompassing both forward and return flows at the company's main factory. This strategic decision allows for a targeted and comprehensive analysis, enhancing the applicability and specificity of our proposed improvements.</a:t>
            </a:r>
            <a:endParaRPr lang="en-US" dirty="0"/>
          </a:p>
        </p:txBody>
      </p:sp>
      <p:sp>
        <p:nvSpPr>
          <p:cNvPr id="4" name="Slide Number Placeholder 3"/>
          <p:cNvSpPr>
            <a:spLocks noGrp="1"/>
          </p:cNvSpPr>
          <p:nvPr>
            <p:ph type="sldNum" sz="quarter" idx="5"/>
          </p:nvPr>
        </p:nvSpPr>
        <p:spPr/>
        <p:txBody>
          <a:bodyPr/>
          <a:lstStyle/>
          <a:p>
            <a:fld id="{247AA239-8DC3-4145-BA56-0DCBC5C6E83B}" type="slidenum">
              <a:rPr lang="en-US" smtClean="0"/>
              <a:t>6</a:t>
            </a:fld>
            <a:endParaRPr lang="en-US"/>
          </a:p>
        </p:txBody>
      </p:sp>
    </p:spTree>
    <p:extLst>
      <p:ext uri="{BB962C8B-B14F-4D97-AF65-F5344CB8AC3E}">
        <p14:creationId xmlns:p14="http://schemas.microsoft.com/office/powerpoint/2010/main" val="386981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multifaceted approach involves an extensive literature study and practical analysis. The literature review focuses on lean manufacturing principles, value stream mapping methodologies, and just-in-time production. Practical studies include interviews, observations, and document analysis. A triangulation approach ensures a robust evaluation of material flow against established theories.</a:t>
            </a:r>
            <a:endParaRPr lang="en-US" dirty="0"/>
          </a:p>
        </p:txBody>
      </p:sp>
      <p:sp>
        <p:nvSpPr>
          <p:cNvPr id="4" name="Slide Number Placeholder 3"/>
          <p:cNvSpPr>
            <a:spLocks noGrp="1"/>
          </p:cNvSpPr>
          <p:nvPr>
            <p:ph type="sldNum" sz="quarter" idx="5"/>
          </p:nvPr>
        </p:nvSpPr>
        <p:spPr/>
        <p:txBody>
          <a:bodyPr/>
          <a:lstStyle/>
          <a:p>
            <a:fld id="{247AA239-8DC3-4145-BA56-0DCBC5C6E83B}" type="slidenum">
              <a:rPr lang="en-US" smtClean="0"/>
              <a:t>7</a:t>
            </a:fld>
            <a:endParaRPr lang="en-US"/>
          </a:p>
        </p:txBody>
      </p:sp>
    </p:spTree>
    <p:extLst>
      <p:ext uri="{BB962C8B-B14F-4D97-AF65-F5344CB8AC3E}">
        <p14:creationId xmlns:p14="http://schemas.microsoft.com/office/powerpoint/2010/main" val="2299279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theoretical framework draws on three key areas – Lean Manufacturing Principles, Value Stream Mapping Methodologies, and Just-in-Time Production. Insights from James P. Womack, Daniel T. Jones, Shigeo Shingo, and Taiichi Ohno guide our understanding and application of these principles to our improvement project.</a:t>
            </a:r>
            <a:endParaRPr lang="en-US" dirty="0"/>
          </a:p>
        </p:txBody>
      </p:sp>
      <p:sp>
        <p:nvSpPr>
          <p:cNvPr id="4" name="Slide Number Placeholder 3"/>
          <p:cNvSpPr>
            <a:spLocks noGrp="1"/>
          </p:cNvSpPr>
          <p:nvPr>
            <p:ph type="sldNum" sz="quarter" idx="5"/>
          </p:nvPr>
        </p:nvSpPr>
        <p:spPr/>
        <p:txBody>
          <a:bodyPr/>
          <a:lstStyle/>
          <a:p>
            <a:fld id="{247AA239-8DC3-4145-BA56-0DCBC5C6E83B}" type="slidenum">
              <a:rPr lang="en-US" smtClean="0"/>
              <a:t>8</a:t>
            </a:fld>
            <a:endParaRPr lang="en-US"/>
          </a:p>
        </p:txBody>
      </p:sp>
    </p:spTree>
    <p:extLst>
      <p:ext uri="{BB962C8B-B14F-4D97-AF65-F5344CB8AC3E}">
        <p14:creationId xmlns:p14="http://schemas.microsoft.com/office/powerpoint/2010/main" val="536530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empirical study includes an analysis of the current material flow through interviews, observations, and document analysis. The value stream mapping analysis visually represents the production process, allowing us to pinpoint inefficiencies and areas for improvement. This data forms the foundation for our proposed changes.</a:t>
            </a:r>
            <a:endParaRPr lang="en-US" dirty="0"/>
          </a:p>
        </p:txBody>
      </p:sp>
      <p:sp>
        <p:nvSpPr>
          <p:cNvPr id="4" name="Slide Number Placeholder 3"/>
          <p:cNvSpPr>
            <a:spLocks noGrp="1"/>
          </p:cNvSpPr>
          <p:nvPr>
            <p:ph type="sldNum" sz="quarter" idx="5"/>
          </p:nvPr>
        </p:nvSpPr>
        <p:spPr/>
        <p:txBody>
          <a:bodyPr/>
          <a:lstStyle/>
          <a:p>
            <a:fld id="{247AA239-8DC3-4145-BA56-0DCBC5C6E83B}" type="slidenum">
              <a:rPr lang="en-US" smtClean="0"/>
              <a:t>9</a:t>
            </a:fld>
            <a:endParaRPr lang="en-US"/>
          </a:p>
        </p:txBody>
      </p:sp>
    </p:spTree>
    <p:extLst>
      <p:ext uri="{BB962C8B-B14F-4D97-AF65-F5344CB8AC3E}">
        <p14:creationId xmlns:p14="http://schemas.microsoft.com/office/powerpoint/2010/main" val="1624089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Systematically comparing theories with practical insights, we identify disparities and form the basis for our proposed changes. Our analysis reveals the rationale behind these changes, discussions on the current state, reasonableness of results, and acknowledges any survey limitations.</a:t>
            </a:r>
            <a:endParaRPr lang="en-US" dirty="0"/>
          </a:p>
        </p:txBody>
      </p:sp>
      <p:sp>
        <p:nvSpPr>
          <p:cNvPr id="4" name="Slide Number Placeholder 3"/>
          <p:cNvSpPr>
            <a:spLocks noGrp="1"/>
          </p:cNvSpPr>
          <p:nvPr>
            <p:ph type="sldNum" sz="quarter" idx="5"/>
          </p:nvPr>
        </p:nvSpPr>
        <p:spPr/>
        <p:txBody>
          <a:bodyPr/>
          <a:lstStyle/>
          <a:p>
            <a:fld id="{247AA239-8DC3-4145-BA56-0DCBC5C6E83B}" type="slidenum">
              <a:rPr lang="en-US" smtClean="0"/>
              <a:t>10</a:t>
            </a:fld>
            <a:endParaRPr lang="en-US"/>
          </a:p>
        </p:txBody>
      </p:sp>
    </p:spTree>
    <p:extLst>
      <p:ext uri="{BB962C8B-B14F-4D97-AF65-F5344CB8AC3E}">
        <p14:creationId xmlns:p14="http://schemas.microsoft.com/office/powerpoint/2010/main" val="3461900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chapter, we delve into the rationale behind the proposed changes, discussions on the current state, reasonableness of results, and acknowledge any shortcomings in the survey methodology. Conclusions underscore the project's significance in enhancing efficiency, achieving cost savings, and contributing to continuous improvement.</a:t>
            </a:r>
            <a:endParaRPr lang="en-US" dirty="0"/>
          </a:p>
        </p:txBody>
      </p:sp>
      <p:sp>
        <p:nvSpPr>
          <p:cNvPr id="4" name="Slide Number Placeholder 3"/>
          <p:cNvSpPr>
            <a:spLocks noGrp="1"/>
          </p:cNvSpPr>
          <p:nvPr>
            <p:ph type="sldNum" sz="quarter" idx="5"/>
          </p:nvPr>
        </p:nvSpPr>
        <p:spPr/>
        <p:txBody>
          <a:bodyPr/>
          <a:lstStyle/>
          <a:p>
            <a:fld id="{247AA239-8DC3-4145-BA56-0DCBC5C6E83B}" type="slidenum">
              <a:rPr lang="en-US" smtClean="0"/>
              <a:t>11</a:t>
            </a:fld>
            <a:endParaRPr lang="en-US"/>
          </a:p>
        </p:txBody>
      </p:sp>
    </p:spTree>
    <p:extLst>
      <p:ext uri="{BB962C8B-B14F-4D97-AF65-F5344CB8AC3E}">
        <p14:creationId xmlns:p14="http://schemas.microsoft.com/office/powerpoint/2010/main" val="3036574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we conclude, it's important to note that this improvement project is not a one-time </a:t>
            </a:r>
            <a:r>
              <a:rPr lang="en-GB" dirty="0" err="1"/>
              <a:t>endeavor</a:t>
            </a:r>
            <a:r>
              <a:rPr lang="en-GB" dirty="0"/>
              <a:t>. Continuous improvement is crucial for sustained benefits. Future recommendations could include a more extensive scope and the incorporation of quantitative metrics to supplement qualitative findings.</a:t>
            </a:r>
            <a:endParaRPr lang="en-US" dirty="0"/>
          </a:p>
        </p:txBody>
      </p:sp>
      <p:sp>
        <p:nvSpPr>
          <p:cNvPr id="4" name="Slide Number Placeholder 3"/>
          <p:cNvSpPr>
            <a:spLocks noGrp="1"/>
          </p:cNvSpPr>
          <p:nvPr>
            <p:ph type="sldNum" sz="quarter" idx="5"/>
          </p:nvPr>
        </p:nvSpPr>
        <p:spPr/>
        <p:txBody>
          <a:bodyPr/>
          <a:lstStyle/>
          <a:p>
            <a:fld id="{247AA239-8DC3-4145-BA56-0DCBC5C6E83B}" type="slidenum">
              <a:rPr lang="en-US" smtClean="0"/>
              <a:t>12</a:t>
            </a:fld>
            <a:endParaRPr lang="en-US"/>
          </a:p>
        </p:txBody>
      </p:sp>
    </p:spTree>
    <p:extLst>
      <p:ext uri="{BB962C8B-B14F-4D97-AF65-F5344CB8AC3E}">
        <p14:creationId xmlns:p14="http://schemas.microsoft.com/office/powerpoint/2010/main" val="2348916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 you for your attention. I am now open to any questions or discussions you may have. Let's engage in a conversation about how we can collectively drive material flow optimization for a more sustainable and efficient future.</a:t>
            </a:r>
            <a:endParaRPr lang="en-US" dirty="0"/>
          </a:p>
        </p:txBody>
      </p:sp>
      <p:sp>
        <p:nvSpPr>
          <p:cNvPr id="4" name="Slide Number Placeholder 3"/>
          <p:cNvSpPr>
            <a:spLocks noGrp="1"/>
          </p:cNvSpPr>
          <p:nvPr>
            <p:ph type="sldNum" sz="quarter" idx="5"/>
          </p:nvPr>
        </p:nvSpPr>
        <p:spPr/>
        <p:txBody>
          <a:bodyPr/>
          <a:lstStyle/>
          <a:p>
            <a:fld id="{247AA239-8DC3-4145-BA56-0DCBC5C6E83B}" type="slidenum">
              <a:rPr lang="en-US" smtClean="0"/>
              <a:t>13</a:t>
            </a:fld>
            <a:endParaRPr lang="en-US"/>
          </a:p>
        </p:txBody>
      </p:sp>
    </p:spTree>
    <p:extLst>
      <p:ext uri="{BB962C8B-B14F-4D97-AF65-F5344CB8AC3E}">
        <p14:creationId xmlns:p14="http://schemas.microsoft.com/office/powerpoint/2010/main" val="3601171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2/12/2024</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476564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694479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2/12/2024</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711280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4993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2/12/2024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163434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101072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212814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2/12/2024</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1197099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2/12/2024</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6730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908698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544333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2/12/2024</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714884495"/>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F40FBDA-CEB1-40F0-9AB9-BD9C402D7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connection abstract against a white background">
            <a:extLst>
              <a:ext uri="{FF2B5EF4-FFF2-40B4-BE49-F238E27FC236}">
                <a16:creationId xmlns:a16="http://schemas.microsoft.com/office/drawing/2014/main" id="{1F41D385-282E-78E6-AE4D-E0F274255DA4}"/>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18" name="Rectangle 17">
            <a:extLst>
              <a:ext uri="{FF2B5EF4-FFF2-40B4-BE49-F238E27FC236}">
                <a16:creationId xmlns:a16="http://schemas.microsoft.com/office/drawing/2014/main" id="{0344D4FE-ABEF-4230-9E4E-AD5782FC7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noFill/>
          <a:ln w="9525" cap="sq" cmpd="sng" algn="ctr">
            <a:solidFill>
              <a:schemeClr val="tx1">
                <a:lumMod val="75000"/>
                <a:lumOff val="25000"/>
              </a:schemeClr>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C4306F8E-FFBE-D7DC-E63B-170B746873F1}"/>
              </a:ext>
            </a:extLst>
          </p:cNvPr>
          <p:cNvSpPr>
            <a:spLocks noGrp="1"/>
          </p:cNvSpPr>
          <p:nvPr>
            <p:ph type="ctrTitle"/>
          </p:nvPr>
        </p:nvSpPr>
        <p:spPr>
          <a:xfrm>
            <a:off x="1769532" y="2091263"/>
            <a:ext cx="8652938" cy="2461504"/>
          </a:xfrm>
        </p:spPr>
        <p:txBody>
          <a:bodyPr>
            <a:normAutofit/>
          </a:bodyPr>
          <a:lstStyle/>
          <a:p>
            <a:r>
              <a:rPr lang="en-GB" sz="5800" b="0" i="0" u="none" strike="noStrike" baseline="0" dirty="0">
                <a:latin typeface="DengXian" panose="02010600030101010101" pitchFamily="2" charset="-122"/>
                <a:ea typeface="DengXian" panose="02010600030101010101" pitchFamily="2" charset="-122"/>
              </a:rPr>
              <a:t>Enhancing Material Flow in Manufacturing </a:t>
            </a:r>
            <a:endParaRPr lang="en-US" sz="5800" dirty="0"/>
          </a:p>
        </p:txBody>
      </p:sp>
      <p:sp>
        <p:nvSpPr>
          <p:cNvPr id="3" name="Subtitle 2">
            <a:extLst>
              <a:ext uri="{FF2B5EF4-FFF2-40B4-BE49-F238E27FC236}">
                <a16:creationId xmlns:a16="http://schemas.microsoft.com/office/drawing/2014/main" id="{EECF39DA-7D10-37AF-E4C3-5BEF3BB4E179}"/>
              </a:ext>
            </a:extLst>
          </p:cNvPr>
          <p:cNvSpPr>
            <a:spLocks noGrp="1"/>
          </p:cNvSpPr>
          <p:nvPr>
            <p:ph type="subTitle" idx="1"/>
          </p:nvPr>
        </p:nvSpPr>
        <p:spPr>
          <a:xfrm>
            <a:off x="1769532" y="4623127"/>
            <a:ext cx="8655200" cy="457201"/>
          </a:xfrm>
        </p:spPr>
        <p:txBody>
          <a:bodyPr>
            <a:normAutofit/>
          </a:bodyPr>
          <a:lstStyle/>
          <a:p>
            <a:pPr>
              <a:lnSpc>
                <a:spcPct val="100000"/>
              </a:lnSpc>
              <a:spcAft>
                <a:spcPts val="600"/>
              </a:spcAft>
            </a:pPr>
            <a:endParaRPr lang="en-US" sz="500" dirty="0">
              <a:solidFill>
                <a:schemeClr val="tx1"/>
              </a:solidFill>
            </a:endParaRPr>
          </a:p>
        </p:txBody>
      </p:sp>
      <p:sp>
        <p:nvSpPr>
          <p:cNvPr id="20" name="Rectangle 19">
            <a:extLst>
              <a:ext uri="{FF2B5EF4-FFF2-40B4-BE49-F238E27FC236}">
                <a16:creationId xmlns:a16="http://schemas.microsoft.com/office/drawing/2014/main" id="{9325F979-D3F9-4926-81B7-7ACCB31A5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9525" cap="sq" cmpd="sng" algn="ctr">
            <a:solidFill>
              <a:schemeClr val="tx1">
                <a:lumMod val="75000"/>
                <a:lumOff val="25000"/>
                <a:alpha val="80000"/>
              </a:schemeClr>
            </a:solidFill>
            <a:prstDash val="solid"/>
            <a:miter lim="800000"/>
          </a:ln>
          <a:effectLst/>
        </p:spPr>
        <p:txBody>
          <a:bodyPr/>
          <a:lstStyle/>
          <a:p>
            <a:endParaRPr lang="en-US"/>
          </a:p>
        </p:txBody>
      </p:sp>
    </p:spTree>
    <p:extLst>
      <p:ext uri="{BB962C8B-B14F-4D97-AF65-F5344CB8AC3E}">
        <p14:creationId xmlns:p14="http://schemas.microsoft.com/office/powerpoint/2010/main" val="32401353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13075"/>
    </mc:Choice>
    <mc:Fallback>
      <p:transition spd="slow" advTm="130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DEBC2-2417-90B4-9113-77B874D904A3}"/>
            </a:ext>
          </a:extLst>
        </p:cNvPr>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4F8A97EC-0A91-AB90-A2FB-C5F17ACFCB25}"/>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2" name="Title 1">
            <a:extLst>
              <a:ext uri="{FF2B5EF4-FFF2-40B4-BE49-F238E27FC236}">
                <a16:creationId xmlns:a16="http://schemas.microsoft.com/office/drawing/2014/main" id="{6805393E-B6DA-5D92-B763-1DE3A45ABC4E}"/>
              </a:ext>
            </a:extLst>
          </p:cNvPr>
          <p:cNvSpPr>
            <a:spLocks noGrp="1"/>
          </p:cNvSpPr>
          <p:nvPr>
            <p:ph type="title"/>
          </p:nvPr>
        </p:nvSpPr>
        <p:spPr/>
        <p:txBody>
          <a:bodyPr>
            <a:normAutofit/>
          </a:bodyPr>
          <a:lstStyle/>
          <a:p>
            <a:r>
              <a:rPr lang="en-US" sz="5800" dirty="0"/>
              <a:t>Introduction</a:t>
            </a:r>
          </a:p>
        </p:txBody>
      </p:sp>
      <p:sp>
        <p:nvSpPr>
          <p:cNvPr id="3" name="Content Placeholder 2">
            <a:extLst>
              <a:ext uri="{FF2B5EF4-FFF2-40B4-BE49-F238E27FC236}">
                <a16:creationId xmlns:a16="http://schemas.microsoft.com/office/drawing/2014/main" id="{E73D3D7A-1DDF-17FE-99B9-4E58559073C1}"/>
              </a:ext>
            </a:extLst>
          </p:cNvPr>
          <p:cNvSpPr>
            <a:spLocks noGrp="1"/>
          </p:cNvSpPr>
          <p:nvPr>
            <p:ph idx="1"/>
          </p:nvPr>
        </p:nvSpPr>
        <p:spPr/>
        <p:txBody>
          <a:bodyPr>
            <a:normAutofit/>
          </a:bodyPr>
          <a:lstStyle/>
          <a:p>
            <a:r>
              <a:rPr lang="en-US" sz="2800" dirty="0"/>
              <a:t>Brief Overview:</a:t>
            </a:r>
          </a:p>
          <a:p>
            <a:pPr lvl="1"/>
            <a:r>
              <a:rPr lang="en-US" sz="2600" dirty="0"/>
              <a:t>Minimizing Waste</a:t>
            </a:r>
          </a:p>
          <a:p>
            <a:pPr lvl="1"/>
            <a:r>
              <a:rPr lang="en-US" sz="2600" dirty="0"/>
              <a:t>Increasing Throughput</a:t>
            </a:r>
          </a:p>
          <a:p>
            <a:pPr lvl="1"/>
            <a:r>
              <a:rPr lang="en-US" sz="2600" dirty="0"/>
              <a:t>Reducing Environmental Impact</a:t>
            </a:r>
          </a:p>
          <a:p>
            <a:r>
              <a:rPr lang="en-US" sz="2800" dirty="0"/>
              <a:t>Goals: </a:t>
            </a:r>
          </a:p>
          <a:p>
            <a:pPr lvl="1"/>
            <a:r>
              <a:rPr lang="en-US" sz="2600" dirty="0"/>
              <a:t>Sustainable &amp; Cost-effective Operations</a:t>
            </a:r>
          </a:p>
        </p:txBody>
      </p:sp>
    </p:spTree>
    <p:extLst>
      <p:ext uri="{BB962C8B-B14F-4D97-AF65-F5344CB8AC3E}">
        <p14:creationId xmlns:p14="http://schemas.microsoft.com/office/powerpoint/2010/main" val="1005988596"/>
      </p:ext>
    </p:extLst>
  </p:cSld>
  <p:clrMapOvr>
    <a:masterClrMapping/>
  </p:clrMapOvr>
  <mc:AlternateContent xmlns:mc="http://schemas.openxmlformats.org/markup-compatibility/2006">
    <mc:Choice xmlns:p14="http://schemas.microsoft.com/office/powerpoint/2010/main" Requires="p14">
      <p:transition spd="slow" p14:dur="2000" advTm="30217"/>
    </mc:Choice>
    <mc:Fallback>
      <p:transition spd="slow" advTm="302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0159-AA57-E3C9-A9B2-EBCC398BDD48}"/>
            </a:ext>
          </a:extLst>
        </p:cNvPr>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DA3CB2DE-D865-8363-3237-3ACEFEAD9D1C}"/>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2" name="Title 1">
            <a:extLst>
              <a:ext uri="{FF2B5EF4-FFF2-40B4-BE49-F238E27FC236}">
                <a16:creationId xmlns:a16="http://schemas.microsoft.com/office/drawing/2014/main" id="{B1357A76-83AB-5276-C852-5863329759AB}"/>
              </a:ext>
            </a:extLst>
          </p:cNvPr>
          <p:cNvSpPr>
            <a:spLocks noGrp="1"/>
          </p:cNvSpPr>
          <p:nvPr>
            <p:ph type="title"/>
          </p:nvPr>
        </p:nvSpPr>
        <p:spPr/>
        <p:txBody>
          <a:bodyPr>
            <a:normAutofit/>
          </a:bodyPr>
          <a:lstStyle/>
          <a:p>
            <a:r>
              <a:rPr lang="en-US" sz="5800" dirty="0"/>
              <a:t>Background</a:t>
            </a:r>
          </a:p>
        </p:txBody>
      </p:sp>
      <p:sp>
        <p:nvSpPr>
          <p:cNvPr id="5" name="Content Placeholder 4">
            <a:extLst>
              <a:ext uri="{FF2B5EF4-FFF2-40B4-BE49-F238E27FC236}">
                <a16:creationId xmlns:a16="http://schemas.microsoft.com/office/drawing/2014/main" id="{11F6A39A-C306-BA0C-AE54-4E714F68D188}"/>
              </a:ext>
            </a:extLst>
          </p:cNvPr>
          <p:cNvSpPr>
            <a:spLocks noGrp="1"/>
          </p:cNvSpPr>
          <p:nvPr>
            <p:ph idx="1"/>
          </p:nvPr>
        </p:nvSpPr>
        <p:spPr/>
        <p:txBody>
          <a:bodyPr>
            <a:normAutofit/>
          </a:bodyPr>
          <a:lstStyle/>
          <a:p>
            <a:r>
              <a:rPr lang="en-US" sz="2800" dirty="0"/>
              <a:t>Challenges:</a:t>
            </a:r>
          </a:p>
          <a:p>
            <a:pPr lvl="1"/>
            <a:r>
              <a:rPr lang="en-US" sz="2600" dirty="0"/>
              <a:t>Inefficiencies</a:t>
            </a:r>
          </a:p>
          <a:p>
            <a:pPr lvl="1"/>
            <a:r>
              <a:rPr lang="en-US" sz="2600" dirty="0"/>
              <a:t>Increased Costs</a:t>
            </a:r>
          </a:p>
          <a:p>
            <a:pPr lvl="1"/>
            <a:r>
              <a:rPr lang="en-US" sz="2600" dirty="0"/>
              <a:t>Delays</a:t>
            </a:r>
          </a:p>
          <a:p>
            <a:pPr lvl="1"/>
            <a:r>
              <a:rPr lang="en-US" sz="2600" dirty="0"/>
              <a:t>Environmental Footprint</a:t>
            </a:r>
          </a:p>
          <a:p>
            <a:r>
              <a:rPr lang="en-US" sz="2800" dirty="0"/>
              <a:t>Focus:</a:t>
            </a:r>
          </a:p>
          <a:p>
            <a:pPr lvl="1"/>
            <a:r>
              <a:rPr lang="en-US" sz="2600" dirty="0"/>
              <a:t>Material Flow within Manufacturing Facilities</a:t>
            </a:r>
          </a:p>
        </p:txBody>
      </p:sp>
    </p:spTree>
    <p:extLst>
      <p:ext uri="{BB962C8B-B14F-4D97-AF65-F5344CB8AC3E}">
        <p14:creationId xmlns:p14="http://schemas.microsoft.com/office/powerpoint/2010/main" val="546924933"/>
      </p:ext>
    </p:extLst>
  </p:cSld>
  <p:clrMapOvr>
    <a:masterClrMapping/>
  </p:clrMapOvr>
  <mc:AlternateContent xmlns:mc="http://schemas.openxmlformats.org/markup-compatibility/2006">
    <mc:Choice xmlns:p14="http://schemas.microsoft.com/office/powerpoint/2010/main" Requires="p14">
      <p:transition spd="slow" p14:dur="2000" advTm="33702"/>
    </mc:Choice>
    <mc:Fallback>
      <p:transition spd="slow" advTm="337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9C120-1CA9-EBB1-1EFF-E6682447E6E9}"/>
            </a:ext>
          </a:extLst>
        </p:cNvPr>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10B87A6F-C79B-959F-6867-96C156AC49F7}"/>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2" name="Title 1">
            <a:extLst>
              <a:ext uri="{FF2B5EF4-FFF2-40B4-BE49-F238E27FC236}">
                <a16:creationId xmlns:a16="http://schemas.microsoft.com/office/drawing/2014/main" id="{52BBD8DE-441F-EF91-6EC7-F3E2301F9374}"/>
              </a:ext>
            </a:extLst>
          </p:cNvPr>
          <p:cNvSpPr>
            <a:spLocks noGrp="1"/>
          </p:cNvSpPr>
          <p:nvPr>
            <p:ph type="title"/>
          </p:nvPr>
        </p:nvSpPr>
        <p:spPr/>
        <p:txBody>
          <a:bodyPr>
            <a:normAutofit/>
          </a:bodyPr>
          <a:lstStyle/>
          <a:p>
            <a:r>
              <a:rPr lang="en-US" sz="5800" dirty="0"/>
              <a:t>Problem </a:t>
            </a:r>
            <a:r>
              <a:rPr lang="en-US" sz="5800" dirty="0" err="1"/>
              <a:t>Discription</a:t>
            </a:r>
            <a:endParaRPr lang="en-US" sz="5800" dirty="0"/>
          </a:p>
        </p:txBody>
      </p:sp>
      <p:sp>
        <p:nvSpPr>
          <p:cNvPr id="5" name="Content Placeholder 4">
            <a:extLst>
              <a:ext uri="{FF2B5EF4-FFF2-40B4-BE49-F238E27FC236}">
                <a16:creationId xmlns:a16="http://schemas.microsoft.com/office/drawing/2014/main" id="{03202857-3224-D220-C12E-D449E8EEA689}"/>
              </a:ext>
            </a:extLst>
          </p:cNvPr>
          <p:cNvSpPr>
            <a:spLocks noGrp="1"/>
          </p:cNvSpPr>
          <p:nvPr>
            <p:ph idx="1"/>
          </p:nvPr>
        </p:nvSpPr>
        <p:spPr/>
        <p:txBody>
          <a:bodyPr>
            <a:normAutofit/>
          </a:bodyPr>
          <a:lstStyle/>
          <a:p>
            <a:r>
              <a:rPr lang="en-US" sz="2800" dirty="0"/>
              <a:t>Manifestations:</a:t>
            </a:r>
          </a:p>
          <a:p>
            <a:pPr lvl="1"/>
            <a:r>
              <a:rPr lang="en-US" sz="2600" dirty="0"/>
              <a:t>Increased Costs</a:t>
            </a:r>
          </a:p>
          <a:p>
            <a:pPr lvl="1"/>
            <a:r>
              <a:rPr lang="en-US" sz="2600" dirty="0"/>
              <a:t>Needless Delays</a:t>
            </a:r>
          </a:p>
          <a:p>
            <a:pPr lvl="1"/>
            <a:r>
              <a:rPr lang="en-US" sz="2600" dirty="0"/>
              <a:t>Excess Movement of Goods</a:t>
            </a:r>
            <a:endParaRPr lang="en-US" sz="2500" dirty="0"/>
          </a:p>
          <a:p>
            <a:pPr lvl="1"/>
            <a:r>
              <a:rPr lang="en-US" sz="2500" dirty="0"/>
              <a:t>Environmental Impact</a:t>
            </a:r>
          </a:p>
          <a:p>
            <a:r>
              <a:rPr lang="en-US" sz="2800" dirty="0"/>
              <a:t>Significance:</a:t>
            </a:r>
          </a:p>
          <a:p>
            <a:pPr lvl="1"/>
            <a:r>
              <a:rPr lang="en-US" sz="2600" dirty="0"/>
              <a:t>Paving the way for a sustainable and cost-effective future</a:t>
            </a:r>
          </a:p>
        </p:txBody>
      </p:sp>
    </p:spTree>
    <p:extLst>
      <p:ext uri="{BB962C8B-B14F-4D97-AF65-F5344CB8AC3E}">
        <p14:creationId xmlns:p14="http://schemas.microsoft.com/office/powerpoint/2010/main" val="2406508385"/>
      </p:ext>
    </p:extLst>
  </p:cSld>
  <p:clrMapOvr>
    <a:masterClrMapping/>
  </p:clrMapOvr>
  <mc:AlternateContent xmlns:mc="http://schemas.openxmlformats.org/markup-compatibility/2006">
    <mc:Choice xmlns:p14="http://schemas.microsoft.com/office/powerpoint/2010/main" Requires="p14">
      <p:transition spd="slow" p14:dur="2000" advTm="29732"/>
    </mc:Choice>
    <mc:Fallback>
      <p:transition spd="slow" advTm="297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677A9-D11E-9402-8F5C-CCE8CE2EEE92}"/>
            </a:ext>
          </a:extLst>
        </p:cNvPr>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B1E26298-E5B7-BDF5-A42D-FF2AE095B0C3}"/>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2" name="Title 1">
            <a:extLst>
              <a:ext uri="{FF2B5EF4-FFF2-40B4-BE49-F238E27FC236}">
                <a16:creationId xmlns:a16="http://schemas.microsoft.com/office/drawing/2014/main" id="{27F07689-7CC3-900E-BF76-19E327914055}"/>
              </a:ext>
            </a:extLst>
          </p:cNvPr>
          <p:cNvSpPr>
            <a:spLocks noGrp="1"/>
          </p:cNvSpPr>
          <p:nvPr>
            <p:ph type="title"/>
          </p:nvPr>
        </p:nvSpPr>
        <p:spPr/>
        <p:txBody>
          <a:bodyPr>
            <a:normAutofit/>
          </a:bodyPr>
          <a:lstStyle/>
          <a:p>
            <a:r>
              <a:rPr lang="en-US" sz="5800" dirty="0"/>
              <a:t>Purpose and Questions</a:t>
            </a:r>
          </a:p>
        </p:txBody>
      </p:sp>
      <p:sp>
        <p:nvSpPr>
          <p:cNvPr id="5" name="Content Placeholder 4">
            <a:extLst>
              <a:ext uri="{FF2B5EF4-FFF2-40B4-BE49-F238E27FC236}">
                <a16:creationId xmlns:a16="http://schemas.microsoft.com/office/drawing/2014/main" id="{DA2D7E80-8244-62B2-E505-99CE83AFB3EF}"/>
              </a:ext>
            </a:extLst>
          </p:cNvPr>
          <p:cNvSpPr>
            <a:spLocks noGrp="1"/>
          </p:cNvSpPr>
          <p:nvPr>
            <p:ph idx="1"/>
          </p:nvPr>
        </p:nvSpPr>
        <p:spPr/>
        <p:txBody>
          <a:bodyPr>
            <a:normAutofit fontScale="55000" lnSpcReduction="20000"/>
          </a:bodyPr>
          <a:lstStyle/>
          <a:p>
            <a:r>
              <a:rPr lang="en-US" sz="2800" dirty="0"/>
              <a:t>Purpose:</a:t>
            </a:r>
          </a:p>
          <a:p>
            <a:pPr lvl="1"/>
            <a:r>
              <a:rPr lang="en-US" sz="2600" dirty="0"/>
              <a:t>Identify, Plan, Present</a:t>
            </a:r>
          </a:p>
          <a:p>
            <a:r>
              <a:rPr lang="en-US" sz="2800" dirty="0"/>
              <a:t>Broader Goals:</a:t>
            </a:r>
          </a:p>
          <a:p>
            <a:pPr lvl="1"/>
            <a:r>
              <a:rPr lang="en-US" sz="2600" dirty="0"/>
              <a:t>Higher Efficiency</a:t>
            </a:r>
          </a:p>
          <a:p>
            <a:pPr lvl="1"/>
            <a:r>
              <a:rPr lang="en-US" sz="2600" dirty="0"/>
              <a:t>Cost Savings</a:t>
            </a:r>
          </a:p>
          <a:p>
            <a:pPr lvl="1"/>
            <a:r>
              <a:rPr lang="en-US" sz="2600" dirty="0"/>
              <a:t>Time Savings</a:t>
            </a:r>
          </a:p>
          <a:p>
            <a:pPr lvl="1"/>
            <a:r>
              <a:rPr lang="en-US" sz="2600" dirty="0"/>
              <a:t>Increase Revenue</a:t>
            </a:r>
          </a:p>
          <a:p>
            <a:pPr lvl="1"/>
            <a:r>
              <a:rPr lang="en-US" sz="2600" dirty="0"/>
              <a:t>Reduced Environmental Impact</a:t>
            </a:r>
          </a:p>
          <a:p>
            <a:r>
              <a:rPr lang="en-US" sz="2800" dirty="0"/>
              <a:t>Questions:</a:t>
            </a:r>
          </a:p>
          <a:p>
            <a:pPr lvl="1"/>
            <a:r>
              <a:rPr lang="en-US" sz="2600" dirty="0"/>
              <a:t>Specific Inefficiencies</a:t>
            </a:r>
          </a:p>
          <a:p>
            <a:pPr lvl="1"/>
            <a:r>
              <a:rPr lang="en-US" sz="2600" dirty="0"/>
              <a:t>Improvement Measures</a:t>
            </a:r>
          </a:p>
          <a:p>
            <a:pPr lvl="1"/>
            <a:r>
              <a:rPr lang="en-US" sz="2600" dirty="0"/>
              <a:t>Potential Obstacles</a:t>
            </a:r>
          </a:p>
          <a:p>
            <a:pPr lvl="1"/>
            <a:r>
              <a:rPr lang="en-US" sz="2600" dirty="0"/>
              <a:t>Feasibility</a:t>
            </a:r>
          </a:p>
        </p:txBody>
      </p:sp>
    </p:spTree>
    <p:extLst>
      <p:ext uri="{BB962C8B-B14F-4D97-AF65-F5344CB8AC3E}">
        <p14:creationId xmlns:p14="http://schemas.microsoft.com/office/powerpoint/2010/main" val="1238550345"/>
      </p:ext>
    </p:extLst>
  </p:cSld>
  <p:clrMapOvr>
    <a:masterClrMapping/>
  </p:clrMapOvr>
  <mc:AlternateContent xmlns:mc="http://schemas.openxmlformats.org/markup-compatibility/2006">
    <mc:Choice xmlns:p14="http://schemas.microsoft.com/office/powerpoint/2010/main" Requires="p14">
      <p:transition spd="slow" p14:dur="2000" advTm="40383"/>
    </mc:Choice>
    <mc:Fallback>
      <p:transition spd="slow" advTm="403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030C7-7AD7-0B33-E81A-C10755DAD21F}"/>
            </a:ext>
          </a:extLst>
        </p:cNvPr>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624378C6-C647-EEFB-F24F-91489E7AD360}"/>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2" name="Title 1">
            <a:extLst>
              <a:ext uri="{FF2B5EF4-FFF2-40B4-BE49-F238E27FC236}">
                <a16:creationId xmlns:a16="http://schemas.microsoft.com/office/drawing/2014/main" id="{3C2C8EF1-732C-5A4F-E1C0-03EED3EB2CB2}"/>
              </a:ext>
            </a:extLst>
          </p:cNvPr>
          <p:cNvSpPr>
            <a:spLocks noGrp="1"/>
          </p:cNvSpPr>
          <p:nvPr>
            <p:ph type="title"/>
          </p:nvPr>
        </p:nvSpPr>
        <p:spPr/>
        <p:txBody>
          <a:bodyPr>
            <a:normAutofit/>
          </a:bodyPr>
          <a:lstStyle/>
          <a:p>
            <a:r>
              <a:rPr lang="en-US" sz="5800" dirty="0"/>
              <a:t>Limitations</a:t>
            </a:r>
          </a:p>
        </p:txBody>
      </p:sp>
      <p:sp>
        <p:nvSpPr>
          <p:cNvPr id="5" name="Content Placeholder 4">
            <a:extLst>
              <a:ext uri="{FF2B5EF4-FFF2-40B4-BE49-F238E27FC236}">
                <a16:creationId xmlns:a16="http://schemas.microsoft.com/office/drawing/2014/main" id="{C3C99ADD-8E89-CD68-07DA-C0ECB9B57F2E}"/>
              </a:ext>
            </a:extLst>
          </p:cNvPr>
          <p:cNvSpPr>
            <a:spLocks noGrp="1"/>
          </p:cNvSpPr>
          <p:nvPr>
            <p:ph idx="1"/>
          </p:nvPr>
        </p:nvSpPr>
        <p:spPr/>
        <p:txBody>
          <a:bodyPr>
            <a:normAutofit/>
          </a:bodyPr>
          <a:lstStyle/>
          <a:p>
            <a:r>
              <a:rPr lang="en-US" sz="2800" dirty="0"/>
              <a:t>Scope:</a:t>
            </a:r>
          </a:p>
          <a:p>
            <a:pPr lvl="1"/>
            <a:r>
              <a:rPr lang="en-US" sz="2600" dirty="0"/>
              <a:t>Material flow within the manufacturing facility</a:t>
            </a:r>
          </a:p>
          <a:p>
            <a:r>
              <a:rPr lang="en-US" sz="2800" dirty="0"/>
              <a:t>Strategic Decision:</a:t>
            </a:r>
          </a:p>
          <a:p>
            <a:pPr lvl="1"/>
            <a:r>
              <a:rPr lang="en-US" sz="2600" dirty="0"/>
              <a:t>Targeted and comprehensive analysis</a:t>
            </a:r>
          </a:p>
        </p:txBody>
      </p:sp>
    </p:spTree>
    <p:extLst>
      <p:ext uri="{BB962C8B-B14F-4D97-AF65-F5344CB8AC3E}">
        <p14:creationId xmlns:p14="http://schemas.microsoft.com/office/powerpoint/2010/main" val="2655644749"/>
      </p:ext>
    </p:extLst>
  </p:cSld>
  <p:clrMapOvr>
    <a:masterClrMapping/>
  </p:clrMapOvr>
  <mc:AlternateContent xmlns:mc="http://schemas.openxmlformats.org/markup-compatibility/2006">
    <mc:Choice xmlns:p14="http://schemas.microsoft.com/office/powerpoint/2010/main" Requires="p14">
      <p:transition spd="slow" p14:dur="2000" advTm="36583"/>
    </mc:Choice>
    <mc:Fallback>
      <p:transition spd="slow" advTm="365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0EA74-087C-777F-3EF6-819165C1629F}"/>
            </a:ext>
          </a:extLst>
        </p:cNvPr>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BCD6CD7B-91DC-16E4-E132-3D2F548899EF}"/>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2" name="Title 1">
            <a:extLst>
              <a:ext uri="{FF2B5EF4-FFF2-40B4-BE49-F238E27FC236}">
                <a16:creationId xmlns:a16="http://schemas.microsoft.com/office/drawing/2014/main" id="{2A4AD232-A3FE-DDA1-3643-949F95771D47}"/>
              </a:ext>
            </a:extLst>
          </p:cNvPr>
          <p:cNvSpPr>
            <a:spLocks noGrp="1"/>
          </p:cNvSpPr>
          <p:nvPr>
            <p:ph type="title"/>
          </p:nvPr>
        </p:nvSpPr>
        <p:spPr/>
        <p:txBody>
          <a:bodyPr>
            <a:normAutofit/>
          </a:bodyPr>
          <a:lstStyle/>
          <a:p>
            <a:r>
              <a:rPr lang="en-US" sz="5800" dirty="0"/>
              <a:t>Method and Implementation</a:t>
            </a:r>
          </a:p>
        </p:txBody>
      </p:sp>
      <p:sp>
        <p:nvSpPr>
          <p:cNvPr id="5" name="Content Placeholder 4">
            <a:extLst>
              <a:ext uri="{FF2B5EF4-FFF2-40B4-BE49-F238E27FC236}">
                <a16:creationId xmlns:a16="http://schemas.microsoft.com/office/drawing/2014/main" id="{A90F4213-0E0B-AD14-D09C-1D1E57D4DA95}"/>
              </a:ext>
            </a:extLst>
          </p:cNvPr>
          <p:cNvSpPr>
            <a:spLocks noGrp="1"/>
          </p:cNvSpPr>
          <p:nvPr>
            <p:ph idx="1"/>
          </p:nvPr>
        </p:nvSpPr>
        <p:spPr/>
        <p:txBody>
          <a:bodyPr>
            <a:normAutofit lnSpcReduction="10000"/>
          </a:bodyPr>
          <a:lstStyle/>
          <a:p>
            <a:r>
              <a:rPr lang="en-US" sz="2800" dirty="0"/>
              <a:t>Approach:</a:t>
            </a:r>
          </a:p>
          <a:p>
            <a:pPr lvl="1"/>
            <a:r>
              <a:rPr lang="en-US" sz="2600" dirty="0"/>
              <a:t>Literature Focus</a:t>
            </a:r>
          </a:p>
          <a:p>
            <a:pPr lvl="2"/>
            <a:r>
              <a:rPr lang="en-US" sz="2500" dirty="0"/>
              <a:t>Lean Principles</a:t>
            </a:r>
          </a:p>
          <a:p>
            <a:pPr lvl="2"/>
            <a:r>
              <a:rPr lang="en-US" sz="2500" dirty="0"/>
              <a:t>VSM</a:t>
            </a:r>
          </a:p>
          <a:p>
            <a:pPr lvl="2"/>
            <a:r>
              <a:rPr lang="en-US" sz="2500" dirty="0"/>
              <a:t>JIT</a:t>
            </a:r>
          </a:p>
          <a:p>
            <a:pPr lvl="1"/>
            <a:r>
              <a:rPr lang="en-US" sz="2600" dirty="0"/>
              <a:t>Practical Analysis</a:t>
            </a:r>
          </a:p>
          <a:p>
            <a:r>
              <a:rPr lang="en-US" sz="2800" dirty="0"/>
              <a:t>Triangulation:</a:t>
            </a:r>
          </a:p>
          <a:p>
            <a:pPr lvl="1"/>
            <a:r>
              <a:rPr lang="en-US" sz="2600" dirty="0"/>
              <a:t>Ensuring a robust evaluation</a:t>
            </a:r>
          </a:p>
        </p:txBody>
      </p:sp>
    </p:spTree>
    <p:extLst>
      <p:ext uri="{BB962C8B-B14F-4D97-AF65-F5344CB8AC3E}">
        <p14:creationId xmlns:p14="http://schemas.microsoft.com/office/powerpoint/2010/main" val="40637985"/>
      </p:ext>
    </p:extLst>
  </p:cSld>
  <p:clrMapOvr>
    <a:masterClrMapping/>
  </p:clrMapOvr>
  <mc:AlternateContent xmlns:mc="http://schemas.openxmlformats.org/markup-compatibility/2006">
    <mc:Choice xmlns:p14="http://schemas.microsoft.com/office/powerpoint/2010/main" Requires="p14">
      <p:transition spd="slow" p14:dur="2000" advTm="41926"/>
    </mc:Choice>
    <mc:Fallback>
      <p:transition spd="slow" advTm="419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D2D5C-6562-C392-9C70-797014B33234}"/>
            </a:ext>
          </a:extLst>
        </p:cNvPr>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EDFF8B23-9530-CEA7-BF18-A3DD67D842DB}"/>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2" name="Title 1">
            <a:extLst>
              <a:ext uri="{FF2B5EF4-FFF2-40B4-BE49-F238E27FC236}">
                <a16:creationId xmlns:a16="http://schemas.microsoft.com/office/drawing/2014/main" id="{14D52ACA-F4BB-C493-28CE-81791526A1DA}"/>
              </a:ext>
            </a:extLst>
          </p:cNvPr>
          <p:cNvSpPr>
            <a:spLocks noGrp="1"/>
          </p:cNvSpPr>
          <p:nvPr>
            <p:ph type="title"/>
          </p:nvPr>
        </p:nvSpPr>
        <p:spPr/>
        <p:txBody>
          <a:bodyPr>
            <a:normAutofit fontScale="90000"/>
          </a:bodyPr>
          <a:lstStyle/>
          <a:p>
            <a:r>
              <a:rPr lang="en-US" sz="5800" dirty="0"/>
              <a:t>Theoretical Frame of Reference</a:t>
            </a:r>
          </a:p>
        </p:txBody>
      </p:sp>
      <p:sp>
        <p:nvSpPr>
          <p:cNvPr id="5" name="Content Placeholder 4">
            <a:extLst>
              <a:ext uri="{FF2B5EF4-FFF2-40B4-BE49-F238E27FC236}">
                <a16:creationId xmlns:a16="http://schemas.microsoft.com/office/drawing/2014/main" id="{C278C200-B9F1-BF5B-EE23-0B3656278E83}"/>
              </a:ext>
            </a:extLst>
          </p:cNvPr>
          <p:cNvSpPr>
            <a:spLocks noGrp="1"/>
          </p:cNvSpPr>
          <p:nvPr>
            <p:ph idx="1"/>
          </p:nvPr>
        </p:nvSpPr>
        <p:spPr/>
        <p:txBody>
          <a:bodyPr>
            <a:normAutofit/>
          </a:bodyPr>
          <a:lstStyle/>
          <a:p>
            <a:r>
              <a:rPr lang="en-US" sz="2800" dirty="0"/>
              <a:t>Framework:</a:t>
            </a:r>
          </a:p>
          <a:p>
            <a:pPr lvl="1"/>
            <a:r>
              <a:rPr lang="en-US" sz="2600" dirty="0"/>
              <a:t>Lean Principles</a:t>
            </a:r>
          </a:p>
          <a:p>
            <a:pPr lvl="1"/>
            <a:r>
              <a:rPr lang="en-US" sz="2600" dirty="0"/>
              <a:t>VSM</a:t>
            </a:r>
          </a:p>
          <a:p>
            <a:pPr lvl="1"/>
            <a:r>
              <a:rPr lang="en-US" sz="2600" dirty="0"/>
              <a:t>JIT</a:t>
            </a:r>
          </a:p>
          <a:p>
            <a:r>
              <a:rPr lang="en-US" sz="2800" dirty="0"/>
              <a:t>Guidance:</a:t>
            </a:r>
          </a:p>
          <a:p>
            <a:pPr lvl="1"/>
            <a:r>
              <a:rPr lang="en-US" sz="2600" dirty="0"/>
              <a:t>Insights from some references</a:t>
            </a:r>
          </a:p>
        </p:txBody>
      </p:sp>
    </p:spTree>
    <p:extLst>
      <p:ext uri="{BB962C8B-B14F-4D97-AF65-F5344CB8AC3E}">
        <p14:creationId xmlns:p14="http://schemas.microsoft.com/office/powerpoint/2010/main" val="740599199"/>
      </p:ext>
    </p:extLst>
  </p:cSld>
  <p:clrMapOvr>
    <a:masterClrMapping/>
  </p:clrMapOvr>
  <mc:AlternateContent xmlns:mc="http://schemas.openxmlformats.org/markup-compatibility/2006">
    <mc:Choice xmlns:p14="http://schemas.microsoft.com/office/powerpoint/2010/main" Requires="p14">
      <p:transition spd="slow" p14:dur="2000" advTm="39411"/>
    </mc:Choice>
    <mc:Fallback>
      <p:transition spd="slow" advTm="3941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867B9-4CF6-3C82-0441-DB5CC72E70E3}"/>
            </a:ext>
          </a:extLst>
        </p:cNvPr>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2D8E56AF-AC3D-EBF7-8E33-D9B0CA1B6FA8}"/>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2" name="Title 1">
            <a:extLst>
              <a:ext uri="{FF2B5EF4-FFF2-40B4-BE49-F238E27FC236}">
                <a16:creationId xmlns:a16="http://schemas.microsoft.com/office/drawing/2014/main" id="{8E2D178F-DD54-BE46-B02B-88402ACD0625}"/>
              </a:ext>
            </a:extLst>
          </p:cNvPr>
          <p:cNvSpPr>
            <a:spLocks noGrp="1"/>
          </p:cNvSpPr>
          <p:nvPr>
            <p:ph type="title"/>
          </p:nvPr>
        </p:nvSpPr>
        <p:spPr/>
        <p:txBody>
          <a:bodyPr>
            <a:normAutofit/>
          </a:bodyPr>
          <a:lstStyle/>
          <a:p>
            <a:r>
              <a:rPr lang="en-US" sz="5800" dirty="0"/>
              <a:t>Empirical Findings</a:t>
            </a:r>
          </a:p>
        </p:txBody>
      </p:sp>
      <p:sp>
        <p:nvSpPr>
          <p:cNvPr id="5" name="Content Placeholder 4">
            <a:extLst>
              <a:ext uri="{FF2B5EF4-FFF2-40B4-BE49-F238E27FC236}">
                <a16:creationId xmlns:a16="http://schemas.microsoft.com/office/drawing/2014/main" id="{DC0E05F6-ABC4-1B24-DDDE-F21F275BEE97}"/>
              </a:ext>
            </a:extLst>
          </p:cNvPr>
          <p:cNvSpPr>
            <a:spLocks noGrp="1"/>
          </p:cNvSpPr>
          <p:nvPr>
            <p:ph idx="1"/>
          </p:nvPr>
        </p:nvSpPr>
        <p:spPr/>
        <p:txBody>
          <a:bodyPr>
            <a:normAutofit/>
          </a:bodyPr>
          <a:lstStyle/>
          <a:p>
            <a:r>
              <a:rPr lang="en-US" sz="2800" dirty="0"/>
              <a:t>Study:</a:t>
            </a:r>
          </a:p>
          <a:p>
            <a:pPr lvl="1"/>
            <a:r>
              <a:rPr lang="en-US" sz="2600" dirty="0"/>
              <a:t>Current material flow analysis through interviews, observations, and document analysis</a:t>
            </a:r>
          </a:p>
          <a:p>
            <a:r>
              <a:rPr lang="en-US" sz="2800" dirty="0"/>
              <a:t>VSM Analysis:</a:t>
            </a:r>
          </a:p>
          <a:p>
            <a:pPr lvl="1"/>
            <a:r>
              <a:rPr lang="en-US" sz="2600" dirty="0"/>
              <a:t>Pinpointing inefficiencies for proposed changes</a:t>
            </a:r>
          </a:p>
        </p:txBody>
      </p:sp>
    </p:spTree>
    <p:extLst>
      <p:ext uri="{BB962C8B-B14F-4D97-AF65-F5344CB8AC3E}">
        <p14:creationId xmlns:p14="http://schemas.microsoft.com/office/powerpoint/2010/main" val="118577303"/>
      </p:ext>
    </p:extLst>
  </p:cSld>
  <p:clrMapOvr>
    <a:masterClrMapping/>
  </p:clrMapOvr>
  <mc:AlternateContent xmlns:mc="http://schemas.openxmlformats.org/markup-compatibility/2006">
    <mc:Choice xmlns:p14="http://schemas.microsoft.com/office/powerpoint/2010/main" Requires="p14">
      <p:transition spd="slow" p14:dur="2000" advTm="32945"/>
    </mc:Choice>
    <mc:Fallback>
      <p:transition spd="slow" advTm="329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13D86-4023-EC33-A3E0-17CD9B3D36BF}"/>
            </a:ext>
          </a:extLst>
        </p:cNvPr>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5BFD60A4-FBB7-A5AF-AAE6-D4D6BCF6B245}"/>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2" name="Title 1">
            <a:extLst>
              <a:ext uri="{FF2B5EF4-FFF2-40B4-BE49-F238E27FC236}">
                <a16:creationId xmlns:a16="http://schemas.microsoft.com/office/drawing/2014/main" id="{48C98565-92CC-68C7-3BB7-998FBEB5126F}"/>
              </a:ext>
            </a:extLst>
          </p:cNvPr>
          <p:cNvSpPr>
            <a:spLocks noGrp="1"/>
          </p:cNvSpPr>
          <p:nvPr>
            <p:ph type="title"/>
          </p:nvPr>
        </p:nvSpPr>
        <p:spPr/>
        <p:txBody>
          <a:bodyPr>
            <a:normAutofit/>
          </a:bodyPr>
          <a:lstStyle/>
          <a:p>
            <a:r>
              <a:rPr lang="en-US" sz="5800" dirty="0"/>
              <a:t>Analysis</a:t>
            </a:r>
          </a:p>
        </p:txBody>
      </p:sp>
      <p:sp>
        <p:nvSpPr>
          <p:cNvPr id="5" name="Content Placeholder 4">
            <a:extLst>
              <a:ext uri="{FF2B5EF4-FFF2-40B4-BE49-F238E27FC236}">
                <a16:creationId xmlns:a16="http://schemas.microsoft.com/office/drawing/2014/main" id="{F49377A2-D1A3-B634-AE24-A49FFCBB6B7A}"/>
              </a:ext>
            </a:extLst>
          </p:cNvPr>
          <p:cNvSpPr>
            <a:spLocks noGrp="1"/>
          </p:cNvSpPr>
          <p:nvPr>
            <p:ph idx="1"/>
          </p:nvPr>
        </p:nvSpPr>
        <p:spPr/>
        <p:txBody>
          <a:bodyPr>
            <a:noAutofit/>
          </a:bodyPr>
          <a:lstStyle/>
          <a:p>
            <a:r>
              <a:rPr lang="en-US" sz="2800" dirty="0"/>
              <a:t>Disparities:</a:t>
            </a:r>
          </a:p>
          <a:p>
            <a:pPr lvl="1"/>
            <a:r>
              <a:rPr lang="en-US" sz="2600" dirty="0"/>
              <a:t>Identifying discrepancies for proposed changes</a:t>
            </a:r>
          </a:p>
          <a:p>
            <a:r>
              <a:rPr lang="en-US" sz="2800" dirty="0"/>
              <a:t>Rationale:</a:t>
            </a:r>
          </a:p>
          <a:p>
            <a:pPr lvl="1"/>
            <a:r>
              <a:rPr lang="en-US" sz="2600" dirty="0"/>
              <a:t>Discussion on the reasoning behind changes</a:t>
            </a:r>
          </a:p>
        </p:txBody>
      </p:sp>
    </p:spTree>
    <p:extLst>
      <p:ext uri="{BB962C8B-B14F-4D97-AF65-F5344CB8AC3E}">
        <p14:creationId xmlns:p14="http://schemas.microsoft.com/office/powerpoint/2010/main" val="3364144912"/>
      </p:ext>
    </p:extLst>
  </p:cSld>
  <p:clrMapOvr>
    <a:masterClrMapping/>
  </p:clrMapOvr>
  <mc:AlternateContent xmlns:mc="http://schemas.openxmlformats.org/markup-compatibility/2006">
    <mc:Choice xmlns:p14="http://schemas.microsoft.com/office/powerpoint/2010/main" Requires="p14">
      <p:transition spd="slow" p14:dur="2000" advTm="33312"/>
    </mc:Choice>
    <mc:Fallback>
      <p:transition spd="slow" advTm="333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A6306-8FB5-812D-215F-E332871C4B6D}"/>
            </a:ext>
          </a:extLst>
        </p:cNvPr>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96A0ECFE-8354-B7E3-DEAC-9ED01E0D273F}"/>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2" name="Title 1">
            <a:extLst>
              <a:ext uri="{FF2B5EF4-FFF2-40B4-BE49-F238E27FC236}">
                <a16:creationId xmlns:a16="http://schemas.microsoft.com/office/drawing/2014/main" id="{917EA57D-19C9-9B44-A21B-969BEBFDC8C9}"/>
              </a:ext>
            </a:extLst>
          </p:cNvPr>
          <p:cNvSpPr>
            <a:spLocks noGrp="1"/>
          </p:cNvSpPr>
          <p:nvPr>
            <p:ph type="title"/>
          </p:nvPr>
        </p:nvSpPr>
        <p:spPr/>
        <p:txBody>
          <a:bodyPr>
            <a:normAutofit/>
          </a:bodyPr>
          <a:lstStyle/>
          <a:p>
            <a:r>
              <a:rPr lang="en-US" sz="5800" dirty="0"/>
              <a:t>Discussions and Conclusions</a:t>
            </a:r>
          </a:p>
        </p:txBody>
      </p:sp>
      <p:sp>
        <p:nvSpPr>
          <p:cNvPr id="5" name="Content Placeholder 4">
            <a:extLst>
              <a:ext uri="{FF2B5EF4-FFF2-40B4-BE49-F238E27FC236}">
                <a16:creationId xmlns:a16="http://schemas.microsoft.com/office/drawing/2014/main" id="{D5EC683D-921D-B90B-C3DE-2357A399AF09}"/>
              </a:ext>
            </a:extLst>
          </p:cNvPr>
          <p:cNvSpPr>
            <a:spLocks noGrp="1"/>
          </p:cNvSpPr>
          <p:nvPr>
            <p:ph idx="1"/>
          </p:nvPr>
        </p:nvSpPr>
        <p:spPr/>
        <p:txBody>
          <a:bodyPr>
            <a:normAutofit/>
          </a:bodyPr>
          <a:lstStyle/>
          <a:p>
            <a:r>
              <a:rPr lang="en-US" sz="2800" dirty="0"/>
              <a:t>Reasonableness</a:t>
            </a:r>
          </a:p>
          <a:p>
            <a:pPr lvl="1"/>
            <a:r>
              <a:rPr lang="en-US" sz="2600" dirty="0"/>
              <a:t>Discussion on practically of results</a:t>
            </a:r>
          </a:p>
          <a:p>
            <a:r>
              <a:rPr lang="en-US" sz="2800" dirty="0"/>
              <a:t>Continuous Improvement:</a:t>
            </a:r>
          </a:p>
          <a:p>
            <a:pPr lvl="1"/>
            <a:r>
              <a:rPr lang="en-US" sz="2600" dirty="0"/>
              <a:t>Acknowledging the ongoing commitment</a:t>
            </a:r>
          </a:p>
        </p:txBody>
      </p:sp>
    </p:spTree>
    <p:extLst>
      <p:ext uri="{BB962C8B-B14F-4D97-AF65-F5344CB8AC3E}">
        <p14:creationId xmlns:p14="http://schemas.microsoft.com/office/powerpoint/2010/main" val="1217830811"/>
      </p:ext>
    </p:extLst>
  </p:cSld>
  <p:clrMapOvr>
    <a:masterClrMapping/>
  </p:clrMapOvr>
  <mc:AlternateContent xmlns:mc="http://schemas.openxmlformats.org/markup-compatibility/2006">
    <mc:Choice xmlns:p14="http://schemas.microsoft.com/office/powerpoint/2010/main" Requires="p14">
      <p:transition spd="slow" p14:dur="2000" advTm="32428"/>
    </mc:Choice>
    <mc:Fallback>
      <p:transition spd="slow" advTm="324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22E95-DB50-D1B0-352B-6957D731F32A}"/>
            </a:ext>
          </a:extLst>
        </p:cNvPr>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BB4A7DA7-3FFE-9D44-F24A-8B22E92DF8D5}"/>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2" name="Title 1">
            <a:extLst>
              <a:ext uri="{FF2B5EF4-FFF2-40B4-BE49-F238E27FC236}">
                <a16:creationId xmlns:a16="http://schemas.microsoft.com/office/drawing/2014/main" id="{C355DCB3-4FF1-6FF2-4090-E06CEC6454A9}"/>
              </a:ext>
            </a:extLst>
          </p:cNvPr>
          <p:cNvSpPr>
            <a:spLocks noGrp="1"/>
          </p:cNvSpPr>
          <p:nvPr>
            <p:ph type="title"/>
          </p:nvPr>
        </p:nvSpPr>
        <p:spPr/>
        <p:txBody>
          <a:bodyPr>
            <a:normAutofit/>
          </a:bodyPr>
          <a:lstStyle/>
          <a:p>
            <a:r>
              <a:rPr lang="en-US" sz="5800" dirty="0"/>
              <a:t>Future Recommendations</a:t>
            </a:r>
          </a:p>
        </p:txBody>
      </p:sp>
      <p:sp>
        <p:nvSpPr>
          <p:cNvPr id="5" name="Content Placeholder 4">
            <a:extLst>
              <a:ext uri="{FF2B5EF4-FFF2-40B4-BE49-F238E27FC236}">
                <a16:creationId xmlns:a16="http://schemas.microsoft.com/office/drawing/2014/main" id="{F7D0B723-FBB1-8988-B68A-342174151ED9}"/>
              </a:ext>
            </a:extLst>
          </p:cNvPr>
          <p:cNvSpPr>
            <a:spLocks noGrp="1"/>
          </p:cNvSpPr>
          <p:nvPr>
            <p:ph idx="1"/>
          </p:nvPr>
        </p:nvSpPr>
        <p:spPr/>
        <p:txBody>
          <a:bodyPr>
            <a:normAutofit/>
          </a:bodyPr>
          <a:lstStyle/>
          <a:p>
            <a:r>
              <a:rPr lang="en-US" sz="2800" dirty="0"/>
              <a:t>Ongoing Commitment:</a:t>
            </a:r>
          </a:p>
          <a:p>
            <a:pPr lvl="1"/>
            <a:r>
              <a:rPr lang="en-US" sz="2600" dirty="0"/>
              <a:t>Continuous Improvement is crucial</a:t>
            </a:r>
          </a:p>
          <a:p>
            <a:r>
              <a:rPr lang="en-US" sz="2800" dirty="0"/>
              <a:t>Future Research:</a:t>
            </a:r>
          </a:p>
          <a:p>
            <a:pPr lvl="1"/>
            <a:r>
              <a:rPr lang="en-US" sz="2600" dirty="0"/>
              <a:t>Recommendations for a more extensive scope</a:t>
            </a:r>
          </a:p>
        </p:txBody>
      </p:sp>
    </p:spTree>
    <p:extLst>
      <p:ext uri="{BB962C8B-B14F-4D97-AF65-F5344CB8AC3E}">
        <p14:creationId xmlns:p14="http://schemas.microsoft.com/office/powerpoint/2010/main" val="3483761153"/>
      </p:ext>
    </p:extLst>
  </p:cSld>
  <p:clrMapOvr>
    <a:masterClrMapping/>
  </p:clrMapOvr>
  <mc:AlternateContent xmlns:mc="http://schemas.openxmlformats.org/markup-compatibility/2006">
    <mc:Choice xmlns:p14="http://schemas.microsoft.com/office/powerpoint/2010/main" Requires="p14">
      <p:transition spd="slow" p14:dur="2000" advTm="27998"/>
    </mc:Choice>
    <mc:Fallback>
      <p:transition spd="slow" advTm="279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0EAF42-92AF-E1FB-4912-59A8F56D550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40FBDA-CEB1-40F0-9AB9-BD9C402D7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connection abstract against a white background">
            <a:extLst>
              <a:ext uri="{FF2B5EF4-FFF2-40B4-BE49-F238E27FC236}">
                <a16:creationId xmlns:a16="http://schemas.microsoft.com/office/drawing/2014/main" id="{3AF6CAAB-A29E-C944-9226-50969729A0DA}"/>
              </a:ext>
            </a:extLst>
          </p:cNvPr>
          <p:cNvPicPr>
            <a:picLocks noChangeAspect="1"/>
          </p:cNvPicPr>
          <p:nvPr/>
        </p:nvPicPr>
        <p:blipFill rotWithShape="1">
          <a:blip r:embed="rId3">
            <a:alphaModFix amt="45000"/>
          </a:blip>
          <a:srcRect t="15730"/>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0344D4FE-ABEF-4230-9E4E-AD5782FC7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noFill/>
          <a:ln w="9525" cap="sq" cmpd="sng" algn="ctr">
            <a:solidFill>
              <a:schemeClr val="tx1">
                <a:lumMod val="75000"/>
                <a:lumOff val="25000"/>
              </a:schemeClr>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8B9A64F3-8649-7A70-9277-2FC06E01F7D5}"/>
              </a:ext>
            </a:extLst>
          </p:cNvPr>
          <p:cNvSpPr>
            <a:spLocks noGrp="1"/>
          </p:cNvSpPr>
          <p:nvPr>
            <p:ph type="ctrTitle"/>
          </p:nvPr>
        </p:nvSpPr>
        <p:spPr>
          <a:xfrm>
            <a:off x="1769532" y="2091263"/>
            <a:ext cx="8652938" cy="2461504"/>
          </a:xfrm>
        </p:spPr>
        <p:txBody>
          <a:bodyPr>
            <a:normAutofit/>
          </a:bodyPr>
          <a:lstStyle/>
          <a:p>
            <a:r>
              <a:rPr lang="en-US"/>
              <a:t>Thank you!</a:t>
            </a:r>
          </a:p>
        </p:txBody>
      </p:sp>
      <p:sp>
        <p:nvSpPr>
          <p:cNvPr id="3" name="Subtitle 2">
            <a:extLst>
              <a:ext uri="{FF2B5EF4-FFF2-40B4-BE49-F238E27FC236}">
                <a16:creationId xmlns:a16="http://schemas.microsoft.com/office/drawing/2014/main" id="{B448500A-0414-134A-4C7B-E2730BFFF04B}"/>
              </a:ext>
            </a:extLst>
          </p:cNvPr>
          <p:cNvSpPr>
            <a:spLocks noGrp="1"/>
          </p:cNvSpPr>
          <p:nvPr>
            <p:ph type="subTitle" idx="1"/>
          </p:nvPr>
        </p:nvSpPr>
        <p:spPr>
          <a:xfrm>
            <a:off x="1769532" y="4623127"/>
            <a:ext cx="8655200" cy="457201"/>
          </a:xfrm>
        </p:spPr>
        <p:txBody>
          <a:bodyPr>
            <a:normAutofit/>
          </a:bodyPr>
          <a:lstStyle/>
          <a:p>
            <a:endParaRPr lang="en-US">
              <a:solidFill>
                <a:schemeClr val="tx1"/>
              </a:solidFill>
            </a:endParaRPr>
          </a:p>
        </p:txBody>
      </p:sp>
      <p:sp>
        <p:nvSpPr>
          <p:cNvPr id="13" name="Rectangle 12">
            <a:extLst>
              <a:ext uri="{FF2B5EF4-FFF2-40B4-BE49-F238E27FC236}">
                <a16:creationId xmlns:a16="http://schemas.microsoft.com/office/drawing/2014/main" id="{9325F979-D3F9-4926-81B7-7ACCB31A5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9525" cap="sq" cmpd="sng" algn="ctr">
            <a:solidFill>
              <a:schemeClr val="tx1">
                <a:lumMod val="75000"/>
                <a:lumOff val="25000"/>
                <a:alpha val="80000"/>
              </a:schemeClr>
            </a:solidFill>
            <a:prstDash val="solid"/>
            <a:miter lim="800000"/>
          </a:ln>
          <a:effectLst/>
        </p:spPr>
        <p:txBody>
          <a:bodyPr/>
          <a:lstStyle/>
          <a:p>
            <a:endParaRPr lang="en-US"/>
          </a:p>
        </p:txBody>
      </p:sp>
    </p:spTree>
    <p:extLst>
      <p:ext uri="{BB962C8B-B14F-4D97-AF65-F5344CB8AC3E}">
        <p14:creationId xmlns:p14="http://schemas.microsoft.com/office/powerpoint/2010/main" val="3832493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14071"/>
    </mc:Choice>
    <mc:Fallback>
      <p:transition spd="slow" advTm="140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Office">
      <a:dk1>
        <a:srgbClr val="000000"/>
      </a:dk1>
      <a:lt1>
        <a:srgbClr val="FFFFFF"/>
      </a:lt1>
      <a:dk2>
        <a:srgbClr val="1D242E"/>
      </a:dk2>
      <a:lt2>
        <a:srgbClr val="F2F1F1"/>
      </a:lt2>
      <a:accent1>
        <a:srgbClr val="4472C4"/>
      </a:accent1>
      <a:accent2>
        <a:srgbClr val="ED7D31"/>
      </a:accent2>
      <a:accent3>
        <a:srgbClr val="A3A3A3"/>
      </a:accent3>
      <a:accent4>
        <a:srgbClr val="CF9B00"/>
      </a:accent4>
      <a:accent5>
        <a:srgbClr val="5B9BD5"/>
      </a:accent5>
      <a:accent6>
        <a:srgbClr val="70AD47"/>
      </a:accent6>
      <a:hlink>
        <a:srgbClr val="D26012"/>
      </a:hlink>
      <a:folHlink>
        <a:srgbClr val="9A5879"/>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878</Words>
  <Application>Microsoft Office PowerPoint</Application>
  <PresentationFormat>Widescreen</PresentationFormat>
  <Paragraphs>106</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DengXian</vt:lpstr>
      <vt:lpstr>Söhne</vt:lpstr>
      <vt:lpstr>Avenir Next LT Pro</vt:lpstr>
      <vt:lpstr>Avenir Next LT Pro Light</vt:lpstr>
      <vt:lpstr>Calibri</vt:lpstr>
      <vt:lpstr>Garamond</vt:lpstr>
      <vt:lpstr>SavonVTI</vt:lpstr>
      <vt:lpstr>Enhancing Material Flow in Manufacturing </vt:lpstr>
      <vt:lpstr>Introduction</vt:lpstr>
      <vt:lpstr>Background</vt:lpstr>
      <vt:lpstr>Problem Discription</vt:lpstr>
      <vt:lpstr>Purpose and Questions</vt:lpstr>
      <vt:lpstr>Limitations</vt:lpstr>
      <vt:lpstr>Method and Implementation</vt:lpstr>
      <vt:lpstr>Theoretical Frame of Reference</vt:lpstr>
      <vt:lpstr>Empirical Findings</vt:lpstr>
      <vt:lpstr>Analysis</vt:lpstr>
      <vt:lpstr>Discussions and Conclusions</vt:lpstr>
      <vt:lpstr>Future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Material Flow in Manufacturing </dc:title>
  <dc:creator>Xingrong Zong</dc:creator>
  <cp:lastModifiedBy>Xingrong Zong</cp:lastModifiedBy>
  <cp:revision>7</cp:revision>
  <dcterms:created xsi:type="dcterms:W3CDTF">2024-02-12T03:04:34Z</dcterms:created>
  <dcterms:modified xsi:type="dcterms:W3CDTF">2024-02-12T06:20:23Z</dcterms:modified>
</cp:coreProperties>
</file>